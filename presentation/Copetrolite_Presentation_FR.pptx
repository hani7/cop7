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Présenter Copetrolite comme une application de gestion des interventions industrielles. Elle relie les entreprises clientes, les équipes internes et les techniciens dans un circuit commun. Cette présentation décrit le code présent dans le projet au 18 octobre 2026 ; elle ne constitue pas une preuve de déploiement en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bénéfices présentés sont les objectifs du fonctionnement de l’application. Aucun gain de productivité chiffré n’a été mesuré. Le socle existant couvre le suivi opérationnel, documentaire et financier.</a:t>
            </a:r>
          </a:p>
          <a:p/>
          <a:p>
            <a:r>
              <a:t>Sources : Modèles, services métier et interface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pointage est d’abord un brouillon. Sa soumission déclenche le travail de validation client. Seul un pointage validé et encore non facturé peut entrer dans une facture. Le paiement constitue une étape distincte de la facturation.</a:t>
            </a:r>
          </a:p>
          <a:p/>
          <a:p>
            <a:r>
              <a:t>Sources : eliteapp/access.py · services.py · serializers.py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l’administrateur, Équipe et Calendrier se trouvent dans Paramètres. Les autres menus principaux sont Vue d’ensemble, Projets, Pointages, Techniciens, Clients, Facturation et Paiements. Le contenu de Paiements diffère entre administrateur et technicien.</a:t>
            </a:r>
          </a:p>
          <a:p/>
          <a:p>
            <a:r>
              <a:t>Sources : frontend/src/App.jsx · forms.jsx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code définit exactement quatre rôles. Il n’existe pas de rôle comptable séparé. Un compte d’accès client par projet utilise le rôle de chef de projet client avec un périmètre plus restreint.</a:t>
            </a:r>
          </a:p>
          <a:p/>
          <a:p>
            <a:r>
              <a:t>Sources : eliteapp/models.py · access.py · views.py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client peut consulter des informations limitées sur les personnes de son périmètre, sans documents privés. Le superviseur consulte les comptes mais ne les crée ni ne les modifie. Le technicien retrouve ses gains dans un endpoint distinct, sans accès aux factures ou paiements clients. Les coûts de projet sont consultables en interne.</a:t>
            </a:r>
          </a:p>
          <a:p/>
          <a:p>
            <a:r>
              <a:t>Sources : Contrôles serveur : access.py · views.py · serializers.py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de bord actuel présente quatre indicateurs principaux. Pour les profils non administrateurs, les heures validées remplacent le reste à encaisser. L’indicateur heures validées exclut les pointages déjà passés à l’état facturé ; il ne doit donc pas être présenté comme un cumul historique de toute l’activité approuvée.</a:t>
            </a:r>
          </a:p>
          <a:p/>
          <a:p>
            <a:r>
              <a:t>Sources : DashboardView · frontend/src/App.jsx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fiche client regroupe les coordonnées nécessaires au suivi. Le formulaire actuel rend plusieurs champs administratifs obligatoires. Une facture conserve un instantané de certaines informations client à son émission.</a:t>
            </a:r>
          </a:p>
          <a:p/>
          <a:p>
            <a:r>
              <a:t>Sources : ClientViewSet · ClientSerializer · forms.jsx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mot de passe est enregistré sous forme hachée. Les écrans ne permettent pas de relire le mot de passe stocké. Les restrictions de modification empêchent notamment certaines incohérences de rattachement lorsqu’un historique existe.</a:t>
            </a:r>
          </a:p>
          <a:p/>
          <a:p>
            <a:r>
              <a:t>Sources : UserViewSet · UserSerializer · forms.jsx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matricule est généré selon un compteur annuel au format CP-année-numéro. La photo, l’adresse, le CV et les autres informations privées ne sont pas exposés aux clients ou aux techniciens par la réponse utilisateur limitée. Une suppression de technicien avec projets ou pointages est bloquée.</a:t>
            </a:r>
          </a:p>
          <a:p/>
          <a:p>
            <a:r>
              <a:t>Sources : UserSerializer · UserViewSet · TechnicianPhoto.jsx · CertificateUploads.jsx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L’extraction repose sur PyMuPDF et des règles de repérage des rubriques, avec OCR Windows si nécessaire. Les titres reconnus comprennent expérience professionnelle, parcours professionnel et work experience. Il ne s’agit pas d’une analyse universelle de toutes les mises en page. Le résultat retourné est limité à 20 000 caractères.</a:t>
            </a:r>
          </a:p>
          <a:p/>
          <a:p>
            <a:r>
              <a:t>Sources : eliteapp/cv.py · CVImport.jsx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distinction entre extraction et sauvegarde est essentielle lors de la démonstration. Le bouton d’extraction ne suffit pas pour joindre le CV. L’éditeur propose gras, italique, soulignement, listes et annuler/rétablir. En cas d’absence de rubrique détectée, le texte proposé peut être corrigé puis adopté.</a:t>
            </a:r>
          </a:p>
          <a:p/>
          <a:p>
            <a:r>
              <a:t>Sources : CVImport.jsx · ExperienceEditor.jsx · UserSerializer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code sélectionne une image candidate ; il ne réalise pas de reconnaissance faciale et ne garantit pas un recadrage du visage sur un CV scanné. Lors de la sauvegarde d’une fiche sans photo, une image peut aussi être extraite automatiquement du CV. Une photo déjà présente est conservée ; une photo explicitement importée est prioritaire.</a:t>
            </a:r>
          </a:p>
          <a:p/>
          <a:p>
            <a:r>
              <a:t>Sources : extract_cv_photo · save_photo_from_cv · CVImport.jsx · TechnicianPhoto.jsx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README mentionne encore une ancienne limite de dix pages ; le code et le formulaire actuels n’imposent plus cette limite. Les PDF protégés doivent être déverrouillés. L’OCR dispose d’un budget de traitement d’environ 60 secondes. Les tests OCR utilisent une simulation, ils ne prouvent pas la disponibilité du moteur Windows de ce poste.</a:t>
            </a:r>
          </a:p>
          <a:p/>
          <a:p>
            <a:r>
              <a:t>Sources : cv.py · CVImport.jsx · test_cv.py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formulaire actuel utilise un nom libre pour le chef de projet client. Il faut donc distinguer cette information descriptive d’un véritable compte de connexion. Le backend prend également en charge les comptes chefs de projet historiques rattachés au projet. Les champs financiers sont masqués dans les réponses projet des techniciens et clients.</a:t>
            </a:r>
          </a:p>
          <a:p/>
          <a:p>
            <a:r>
              <a:t>Sources : ProjectSerializer · ProjectViewSet · forms.jsx · ProjectAccess.jsx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peut voir les tarifs et les coûts calculés des projets. Il ne doit pas être présenté comme un simple lecteur de projets : le backend lui permet de créer et modifier les clients et projets. En revanche, il ne saisit pas les heures à la place du technicien.</a:t>
            </a:r>
          </a:p>
          <a:p/>
          <a:p>
            <a:r>
              <a:t>Sources : views.py · access.py · App.jsx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formulaire actuel simplifie la saisie à une date et une durée. Il ne demande pas directement une heure de début, une heure de fin et une pause, même si ces informations existent dans le modèle serveur. Le technicien ne gère pas les comptes ni les documents privés des autres personnes.</a:t>
            </a:r>
          </a:p>
          <a:p/>
          <a:p>
            <a:r>
              <a:t>Sources : App.jsx · forms.jsx · entries_for · projects_for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chevauchements sont recherchés sur tous les projets du technicien. Un refus crée un état distinct, modifiable par son auteur. Le client ne voit pas les brouillons. Les transitions et corrections sont historisées avec l’identité de l’acteur.</a:t>
            </a:r>
          </a:p>
          <a:p/>
          <a:p>
            <a:r>
              <a:t>Sources : TimeEntrySerializer · transition_entry · TimeEntryEvent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gains utilisent les tarifs et le calendrier actuels. Ils peuvent donc changer si ces paramètres sont modifiés. Ce module ne constitue pas un système de paie, un bulletin de salaire ou une preuve de virement. Les données de gains sont accessibles en lecture seule au technicien.</a:t>
            </a:r>
          </a:p>
          <a:p/>
          <a:p>
            <a:r>
              <a:t>Sources : ProjectViewSet.earnings · ProjectSerializer.get_technician_labor_cost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restrictions reposent sur le projet attribué et le client actif. L’appartenance à la même entreprise ne suffit pas pour valider les pointages d’un autre projet. Le compte dédié est redirigé vers les pointages à valider.</a:t>
            </a:r>
          </a:p>
          <a:p/>
          <a:p>
            <a:r>
              <a:t>Sources : projects_for · entries_for · LoginView · App.jsx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L’auteur de la décision, sa date et le motif éventuel sont enregistrés. Un administrateur ne dispose pas d’une action de validation de substitution dans le circuit actuel. La validation est une action métier tracée, pas une signature électronique certifiée.</a:t>
            </a:r>
          </a:p>
          <a:p/>
          <a:p>
            <a:r>
              <a:t>Sources : transition_entry · entry-detail dans App.jsx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formulaire permet de générer un mot de passe. L’envoi d’un email ou d’une invitation automatique n’est pas implémenté dans ce parcours. Un client désactivé ne peut plus utiliser cet accès projet.</a:t>
            </a:r>
          </a:p>
          <a:p/>
          <a:p>
            <a:r>
              <a:t>Sources : ProjectAccess.jsx · ProjectViewSet.client_access · LoginView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serveur bloque les pointages non validés, les doublons et le mélange de projets. La facture conserve notamment les noms client et projet, l’adresse, le bon de commande et les montants. Le document imprimable actuel est décrit comme un outil de suivi interne ; les informations de l’entreprise émettrice restent à compléter avant usage commercial définitif.</a:t>
            </a:r>
          </a:p>
          <a:p/>
          <a:p>
            <a:r>
              <a:t>Sources : create_invoice · InvoiceCreateSerializer · InvoiceDetail · README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enregistrements concernent les paiements reçus des clients. Aucun raccordement bancaire automatique n’est présent dans le périmètre examiné. Les modifications et suppressions de paiements ne sont pas exposées par l’API actuelle.</a:t>
            </a:r>
          </a:p>
          <a:p/>
          <a:p>
            <a:r>
              <a:t>Sources : record_payment · PaymentSerializer · Invoice.balance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calcul du forfait client regroupe les pointages sélectionnés dans une seule émission de facture. Il ne faut pas promettre une déduplication du forfait entre plusieurs factures séparées portant sur la même date et le même technicien. Les dates fériées sont saisies par l’administrateur, sans présumer d’un calendrier légal automatique.</a:t>
            </a:r>
          </a:p>
          <a:p/>
          <a:p>
            <a:r>
              <a:t>Sources : create_invoice · get_technician_labor_cost · PublicHolidayViewSet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désactivation permet de conserver les liens historiques. Les contrôles du backend complètent l’affichage conditionnel des menus. Cette présentation ne remplace pas un audit de sécurité ou une recette complète d’exploitation.</a:t>
            </a:r>
          </a:p>
          <a:p/>
          <a:p>
            <a:r>
              <a:t>Sources : access.py · views.py · services.py · serializers.py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README décrit un APK de développement lié à une adresse réseau locale. Une distribution plus large nécessite notamment une adresse accessible en HTTPS et une signature de production. Ces travaux ne sont pas réalisés dans le cadre de cette présentation.</a:t>
            </a:r>
          </a:p>
          <a:p/>
          <a:p>
            <a:r>
              <a:t>Sources : README · frontend/src/App.jsx · styles.css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consignes générales mentionnent PostgreSQL, mais coproject/settings.py configure actuellement django.db.backends.mysql et le README documente MySQL. La présentation reflète cette configuration observée, sans la modifier. La base de données et les documents locaux doivent être sauvegardés ensemble.</a:t>
            </a:r>
          </a:p>
          <a:p/>
          <a:p>
            <a:r>
              <a:t>Sources : coproject/settings.py · test_settings.py · cv.py · README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 purement pédagogique : huit heures sont déclarées puis validées. Avec un tarif client de 2 500 DZD par heure, la facture hors taxe atteint 20 000 DZD. Avec un tarif technicien de 1 000 DZD, ses gains calculés sont de 8 000 DZD. Après un règlement client de 12 000 DZD, le solde restant est de 8 000 DZD. Aucune donnée réelle du projet n’est utilisée.</a:t>
            </a:r>
          </a:p>
          <a:p/>
          <a:p>
            <a:r>
              <a:t>Sources : Formules : services.py · ProjectSerializer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Changer explicitement de session entre les rôles pour montrer les différences de menus et de données. Ne pas manipuler de véritables données personnelles dans une démonstration publique. Préparer un CV lisible avec un portrait intégré pour rendre le résultat de l’extraction observable.</a:t>
            </a:r>
          </a:p>
          <a:p/>
          <a:p>
            <a:r>
              <a:t>Sources : Parcours issus des écrans et règles métier existants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Tests lancés séparément : eliteapp.tests puis eliteapp.test_cv avec coproject.test_settings. Total : 61 tests, 58 réussis, 2 échecs d’assertion et 1 erreur. Les écarts CV/profils sont préexistants : attente de casse de l’adresse, validation du téléphone lors de la mise à jour photo, absence de certificate_documents dans une réponse de mise à jour. Le moteur OCR est simulé dans ses tests. Aucun code applicatif n’a été modifié pour cette livraison documentaire.</a:t>
            </a:r>
          </a:p>
          <a:p/>
          <a:p>
            <a:r>
              <a:t>Sources : Exécution locale : manage.py test · 18/10/2026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Conclure sur la complémentarité des rôles. L’extraction de l’expérience et de la photo facilite la constitution des dossiers techniciens ; le circuit de pointage structure ensuite le suivi du travail. Ouvrir les échanges sur les besoins de déploiement et les priorités d’évolution.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Écarts documentaires identifiés : ancienne limite de dix pages du CV, anciennes informations sur le matricule, et ancienne description de la saisie horaire. Les fonctionnalités sont présentées selon les fichiers actuels. L’environnement utilise MySQL malgré la mention générique de PostgreSQL dans les consignes. Les fichiers de configuration sensibles et les données applicatives n’ont pas été lus pour produire ce document.</a:t>
            </a:r>
          </a:p>
          <a:p/>
          <a:p>
            <a:r>
              <a:t>Sources : Sources locales uniquement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458200" y="0"/>
            <a:ext cx="3733800" cy="6858000"/>
          </a:xfrm>
          <a:prstGeom prst="rect">
            <a:avLst/>
          </a:prstGeom>
          <a:solidFill>
            <a:srgbClr val="0D5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2171700"/>
            <a:ext cx="812800" cy="63500"/>
          </a:xfrm>
          <a:prstGeom prst="rect">
            <a:avLst/>
          </a:prstGeom>
          <a:solidFill>
            <a:srgbClr val="D6B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1-1-1.png"/>
          <p:cNvPicPr>
            <a:picLocks noChangeAspect="1"/>
          </p:cNvPicPr>
          <p:nvPr/>
        </p:nvPicPr>
        <p:blipFill>
          <a:blip r:embed="rId3"/>
          <a:stretch>
            <a:fillRect/>
          </a:stretch>
        </p:blipFill>
        <p:spPr>
          <a:xfrm>
            <a:off x="508000" y="190500"/>
            <a:ext cx="2209800" cy="1561099"/>
          </a:xfrm>
          <a:prstGeom prst="rect">
            <a:avLst/>
          </a:prstGeom>
        </p:spPr>
      </p:pic>
      <p:sp>
        <p:nvSpPr>
          <p:cNvPr id="6" name="TextBox 5"/>
          <p:cNvSpPr txBox="1"/>
          <p:nvPr/>
        </p:nvSpPr>
        <p:spPr>
          <a:xfrm>
            <a:off x="558800" y="1879600"/>
            <a:ext cx="7150100" cy="228600"/>
          </a:xfrm>
          <a:prstGeom prst="rect">
            <a:avLst/>
          </a:prstGeom>
          <a:noFill/>
        </p:spPr>
        <p:txBody>
          <a:bodyPr wrap="none" lIns="0" rIns="0" tIns="0" bIns="0">
            <a:spAutoFit/>
          </a:bodyPr>
          <a:lstStyle/>
          <a:p>
            <a:pPr>
              <a:spcBef>
                <a:spcPts val="0"/>
              </a:spcBef>
              <a:spcAft>
                <a:spcPts val="0"/>
              </a:spcAft>
              <a:defRPr sz="1200" b="1">
                <a:solidFill>
                  <a:srgbClr val="B8EAD9"/>
                </a:solidFill>
                <a:latin typeface="Arial"/>
              </a:defRPr>
            </a:pPr>
            <a:r>
              <a:t>PRÉSENTATION DU PROJET</a:t>
            </a:r>
          </a:p>
        </p:txBody>
      </p:sp>
      <p:sp>
        <p:nvSpPr>
          <p:cNvPr id="7" name="TextBox 6"/>
          <p:cNvSpPr txBox="1"/>
          <p:nvPr/>
        </p:nvSpPr>
        <p:spPr>
          <a:xfrm>
            <a:off x="508000" y="2463800"/>
            <a:ext cx="8039100" cy="1047750"/>
          </a:xfrm>
          <a:prstGeom prst="rect">
            <a:avLst/>
          </a:prstGeom>
          <a:noFill/>
        </p:spPr>
        <p:txBody>
          <a:bodyPr wrap="none" lIns="0" rIns="0" tIns="0" bIns="0">
            <a:spAutoFit/>
          </a:bodyPr>
          <a:lstStyle/>
          <a:p>
            <a:pPr>
              <a:spcBef>
                <a:spcPts val="0"/>
              </a:spcBef>
              <a:spcAft>
                <a:spcPts val="0"/>
              </a:spcAft>
              <a:defRPr sz="5500" b="1">
                <a:solidFill>
                  <a:srgbClr val="FFFFFF"/>
                </a:solidFill>
                <a:latin typeface="Arial"/>
              </a:defRPr>
            </a:pPr>
            <a:r>
              <a:t>COPETROLITE</a:t>
            </a:r>
          </a:p>
        </p:txBody>
      </p:sp>
      <p:sp>
        <p:nvSpPr>
          <p:cNvPr id="8" name="TextBox 7"/>
          <p:cNvSpPr txBox="1"/>
          <p:nvPr/>
        </p:nvSpPr>
        <p:spPr>
          <a:xfrm>
            <a:off x="558800" y="3429000"/>
            <a:ext cx="7277100" cy="533400"/>
          </a:xfrm>
          <a:prstGeom prst="rect">
            <a:avLst/>
          </a:prstGeom>
          <a:noFill/>
        </p:spPr>
        <p:txBody>
          <a:bodyPr wrap="none" lIns="0" rIns="0" tIns="0" bIns="0">
            <a:spAutoFit/>
          </a:bodyPr>
          <a:lstStyle/>
          <a:p>
            <a:pPr>
              <a:spcBef>
                <a:spcPts val="0"/>
              </a:spcBef>
              <a:spcAft>
                <a:spcPts val="0"/>
              </a:spcAft>
              <a:defRPr sz="2800" b="0">
                <a:solidFill>
                  <a:srgbClr val="FFFFFF"/>
                </a:solidFill>
                <a:latin typeface="Arial"/>
              </a:defRPr>
            </a:pPr>
            <a:r>
              <a:t>La gestion des interventions industrielles</a:t>
            </a:r>
          </a:p>
        </p:txBody>
      </p:sp>
      <p:sp>
        <p:nvSpPr>
          <p:cNvPr id="9" name="TextBox 8"/>
          <p:cNvSpPr txBox="1"/>
          <p:nvPr/>
        </p:nvSpPr>
        <p:spPr>
          <a:xfrm>
            <a:off x="558800" y="4699000"/>
            <a:ext cx="6896100" cy="361950"/>
          </a:xfrm>
          <a:prstGeom prst="rect">
            <a:avLst/>
          </a:prstGeom>
          <a:noFill/>
        </p:spPr>
        <p:txBody>
          <a:bodyPr wrap="none" lIns="0" rIns="0" tIns="0" bIns="0">
            <a:spAutoFit/>
          </a:bodyPr>
          <a:lstStyle/>
          <a:p>
            <a:pPr>
              <a:spcBef>
                <a:spcPts val="0"/>
              </a:spcBef>
              <a:spcAft>
                <a:spcPts val="0"/>
              </a:spcAft>
              <a:defRPr sz="1900" b="0">
                <a:solidFill>
                  <a:srgbClr val="B8EAD9"/>
                </a:solidFill>
                <a:latin typeface="Arial"/>
              </a:defRPr>
            </a:pPr>
            <a:r>
              <a:t>Les équipes. Le terrain. La validation. Le suivi financier.</a:t>
            </a:r>
          </a:p>
        </p:txBody>
      </p:sp>
      <p:sp>
        <p:nvSpPr>
          <p:cNvPr id="10" name="TextBox 9"/>
          <p:cNvSpPr txBox="1"/>
          <p:nvPr/>
        </p:nvSpPr>
        <p:spPr>
          <a:xfrm>
            <a:off x="558800" y="5753100"/>
            <a:ext cx="7658100" cy="228600"/>
          </a:xfrm>
          <a:prstGeom prst="rect">
            <a:avLst/>
          </a:prstGeom>
          <a:noFill/>
        </p:spPr>
        <p:txBody>
          <a:bodyPr wrap="none" lIns="0" rIns="0" tIns="0" bIns="0">
            <a:spAutoFit/>
          </a:bodyPr>
          <a:lstStyle/>
          <a:p>
            <a:pPr>
              <a:spcBef>
                <a:spcPts val="0"/>
              </a:spcBef>
              <a:spcAft>
                <a:spcPts val="0"/>
              </a:spcAft>
              <a:defRPr sz="1200" b="1">
                <a:solidFill>
                  <a:srgbClr val="FFFFFF"/>
                </a:solidFill>
                <a:latin typeface="Arial"/>
              </a:defRPr>
            </a:pPr>
            <a:r>
              <a:t>ADMINISTRATION · ÉQUIPE</a:t>
            </a:r>
          </a:p>
        </p:txBody>
      </p:sp>
      <p:sp>
        <p:nvSpPr>
          <p:cNvPr id="11" name="TextBox 10"/>
          <p:cNvSpPr txBox="1"/>
          <p:nvPr/>
        </p:nvSpPr>
        <p:spPr>
          <a:xfrm>
            <a:off x="558800" y="5942076"/>
            <a:ext cx="7658100" cy="228600"/>
          </a:xfrm>
          <a:prstGeom prst="rect">
            <a:avLst/>
          </a:prstGeom>
          <a:noFill/>
        </p:spPr>
        <p:txBody>
          <a:bodyPr wrap="none" lIns="0" rIns="0" tIns="0" bIns="0">
            <a:spAutoFit/>
          </a:bodyPr>
          <a:lstStyle/>
          <a:p>
            <a:pPr>
              <a:spcBef>
                <a:spcPts val="0"/>
              </a:spcBef>
              <a:spcAft>
                <a:spcPts val="0"/>
              </a:spcAft>
              <a:defRPr sz="1200" b="1">
                <a:solidFill>
                  <a:srgbClr val="FFFFFF"/>
                </a:solidFill>
                <a:latin typeface="Arial"/>
              </a:defRPr>
            </a:pPr>
            <a:r>
              <a:t>TECHNICIENS · CLIENTS</a:t>
            </a:r>
          </a:p>
        </p:txBody>
      </p:sp>
      <p:sp>
        <p:nvSpPr>
          <p:cNvPr id="12" name="TextBox 11"/>
          <p:cNvSpPr txBox="1"/>
          <p:nvPr/>
        </p:nvSpPr>
        <p:spPr>
          <a:xfrm>
            <a:off x="558800" y="6413500"/>
            <a:ext cx="7912100" cy="171450"/>
          </a:xfrm>
          <a:prstGeom prst="rect">
            <a:avLst/>
          </a:prstGeom>
          <a:noFill/>
        </p:spPr>
        <p:txBody>
          <a:bodyPr wrap="none" lIns="0" rIns="0" tIns="0" bIns="0">
            <a:spAutoFit/>
          </a:bodyPr>
          <a:lstStyle/>
          <a:p>
            <a:pPr>
              <a:spcBef>
                <a:spcPts val="0"/>
              </a:spcBef>
              <a:spcAft>
                <a:spcPts val="0"/>
              </a:spcAft>
              <a:defRPr sz="900" b="0">
                <a:solidFill>
                  <a:srgbClr val="B2C9CA"/>
                </a:solidFill>
                <a:latin typeface="Arial"/>
              </a:defRPr>
            </a:pPr>
            <a:r>
              <a:t>ÉDITION FRANÇAISE / 18 OCTOBRE 2026</a:t>
            </a:r>
          </a:p>
        </p:txBody>
      </p:sp>
      <p:sp>
        <p:nvSpPr>
          <p:cNvPr id="13" name="TextBox 12"/>
          <p:cNvSpPr txBox="1"/>
          <p:nvPr/>
        </p:nvSpPr>
        <p:spPr>
          <a:xfrm>
            <a:off x="8928100" y="1473200"/>
            <a:ext cx="1054100" cy="571500"/>
          </a:xfrm>
          <a:prstGeom prst="rect">
            <a:avLst/>
          </a:prstGeom>
          <a:noFill/>
        </p:spPr>
        <p:txBody>
          <a:bodyPr wrap="none" lIns="0" rIns="0" tIns="0" bIns="0">
            <a:spAutoFit/>
          </a:bodyPr>
          <a:lstStyle/>
          <a:p>
            <a:pPr>
              <a:spcBef>
                <a:spcPts val="0"/>
              </a:spcBef>
              <a:spcAft>
                <a:spcPts val="0"/>
              </a:spcAft>
              <a:defRPr sz="3000" b="1">
                <a:solidFill>
                  <a:srgbClr val="D6B76D"/>
                </a:solidFill>
                <a:latin typeface="Arial"/>
              </a:defRPr>
            </a:pPr>
            <a:r>
              <a:t>01</a:t>
            </a:r>
          </a:p>
        </p:txBody>
      </p:sp>
      <p:sp>
        <p:nvSpPr>
          <p:cNvPr id="14" name="TextBox 13"/>
          <p:cNvSpPr txBox="1"/>
          <p:nvPr/>
        </p:nvSpPr>
        <p:spPr>
          <a:xfrm>
            <a:off x="9740900" y="1574800"/>
            <a:ext cx="2197100" cy="381000"/>
          </a:xfrm>
          <a:prstGeom prst="rect">
            <a:avLst/>
          </a:prstGeom>
          <a:noFill/>
        </p:spPr>
        <p:txBody>
          <a:bodyPr wrap="none" lIns="0" rIns="0" tIns="0" bIns="0">
            <a:spAutoFit/>
          </a:bodyPr>
          <a:lstStyle/>
          <a:p>
            <a:pPr>
              <a:spcBef>
                <a:spcPts val="0"/>
              </a:spcBef>
              <a:spcAft>
                <a:spcPts val="0"/>
              </a:spcAft>
              <a:defRPr sz="2000" b="0">
                <a:solidFill>
                  <a:srgbClr val="FFFFFF"/>
                </a:solidFill>
                <a:latin typeface="Arial"/>
              </a:defRPr>
            </a:pPr>
            <a:r>
              <a:t>Structurer</a:t>
            </a:r>
          </a:p>
        </p:txBody>
      </p:sp>
      <p:sp>
        <p:nvSpPr>
          <p:cNvPr id="15" name="TextBox 14"/>
          <p:cNvSpPr txBox="1"/>
          <p:nvPr/>
        </p:nvSpPr>
        <p:spPr>
          <a:xfrm>
            <a:off x="8928100" y="2552700"/>
            <a:ext cx="1054100" cy="571500"/>
          </a:xfrm>
          <a:prstGeom prst="rect">
            <a:avLst/>
          </a:prstGeom>
          <a:noFill/>
        </p:spPr>
        <p:txBody>
          <a:bodyPr wrap="none" lIns="0" rIns="0" tIns="0" bIns="0">
            <a:spAutoFit/>
          </a:bodyPr>
          <a:lstStyle/>
          <a:p>
            <a:pPr>
              <a:spcBef>
                <a:spcPts val="0"/>
              </a:spcBef>
              <a:spcAft>
                <a:spcPts val="0"/>
              </a:spcAft>
              <a:defRPr sz="3000" b="1">
                <a:solidFill>
                  <a:srgbClr val="D6B76D"/>
                </a:solidFill>
                <a:latin typeface="Arial"/>
              </a:defRPr>
            </a:pPr>
            <a:r>
              <a:t>02</a:t>
            </a:r>
          </a:p>
        </p:txBody>
      </p:sp>
      <p:sp>
        <p:nvSpPr>
          <p:cNvPr id="16" name="TextBox 15"/>
          <p:cNvSpPr txBox="1"/>
          <p:nvPr/>
        </p:nvSpPr>
        <p:spPr>
          <a:xfrm>
            <a:off x="9740900" y="2654300"/>
            <a:ext cx="2197100" cy="381000"/>
          </a:xfrm>
          <a:prstGeom prst="rect">
            <a:avLst/>
          </a:prstGeom>
          <a:noFill/>
        </p:spPr>
        <p:txBody>
          <a:bodyPr wrap="none" lIns="0" rIns="0" tIns="0" bIns="0">
            <a:spAutoFit/>
          </a:bodyPr>
          <a:lstStyle/>
          <a:p>
            <a:pPr>
              <a:spcBef>
                <a:spcPts val="0"/>
              </a:spcBef>
              <a:spcAft>
                <a:spcPts val="0"/>
              </a:spcAft>
              <a:defRPr sz="2000" b="0">
                <a:solidFill>
                  <a:srgbClr val="FFFFFF"/>
                </a:solidFill>
                <a:latin typeface="Arial"/>
              </a:defRPr>
            </a:pPr>
            <a:r>
              <a:t>Intervenir</a:t>
            </a:r>
          </a:p>
        </p:txBody>
      </p:sp>
      <p:sp>
        <p:nvSpPr>
          <p:cNvPr id="17" name="TextBox 16"/>
          <p:cNvSpPr txBox="1"/>
          <p:nvPr/>
        </p:nvSpPr>
        <p:spPr>
          <a:xfrm>
            <a:off x="8928100" y="3632200"/>
            <a:ext cx="1054100" cy="571500"/>
          </a:xfrm>
          <a:prstGeom prst="rect">
            <a:avLst/>
          </a:prstGeom>
          <a:noFill/>
        </p:spPr>
        <p:txBody>
          <a:bodyPr wrap="none" lIns="0" rIns="0" tIns="0" bIns="0">
            <a:spAutoFit/>
          </a:bodyPr>
          <a:lstStyle/>
          <a:p>
            <a:pPr>
              <a:spcBef>
                <a:spcPts val="0"/>
              </a:spcBef>
              <a:spcAft>
                <a:spcPts val="0"/>
              </a:spcAft>
              <a:defRPr sz="3000" b="1">
                <a:solidFill>
                  <a:srgbClr val="D6B76D"/>
                </a:solidFill>
                <a:latin typeface="Arial"/>
              </a:defRPr>
            </a:pPr>
            <a:r>
              <a:t>03</a:t>
            </a:r>
          </a:p>
        </p:txBody>
      </p:sp>
      <p:sp>
        <p:nvSpPr>
          <p:cNvPr id="18" name="TextBox 17"/>
          <p:cNvSpPr txBox="1"/>
          <p:nvPr/>
        </p:nvSpPr>
        <p:spPr>
          <a:xfrm>
            <a:off x="9740900" y="3733800"/>
            <a:ext cx="2197100" cy="381000"/>
          </a:xfrm>
          <a:prstGeom prst="rect">
            <a:avLst/>
          </a:prstGeom>
          <a:noFill/>
        </p:spPr>
        <p:txBody>
          <a:bodyPr wrap="none" lIns="0" rIns="0" tIns="0" bIns="0">
            <a:spAutoFit/>
          </a:bodyPr>
          <a:lstStyle/>
          <a:p>
            <a:pPr>
              <a:spcBef>
                <a:spcPts val="0"/>
              </a:spcBef>
              <a:spcAft>
                <a:spcPts val="0"/>
              </a:spcAft>
              <a:defRPr sz="2000" b="0">
                <a:solidFill>
                  <a:srgbClr val="FFFFFF"/>
                </a:solidFill>
                <a:latin typeface="Arial"/>
              </a:defRPr>
            </a:pPr>
            <a:r>
              <a:t>Valider</a:t>
            </a:r>
          </a:p>
        </p:txBody>
      </p:sp>
      <p:sp>
        <p:nvSpPr>
          <p:cNvPr id="19" name="TextBox 18"/>
          <p:cNvSpPr txBox="1"/>
          <p:nvPr/>
        </p:nvSpPr>
        <p:spPr>
          <a:xfrm>
            <a:off x="8928100" y="4711700"/>
            <a:ext cx="1054100" cy="571500"/>
          </a:xfrm>
          <a:prstGeom prst="rect">
            <a:avLst/>
          </a:prstGeom>
          <a:noFill/>
        </p:spPr>
        <p:txBody>
          <a:bodyPr wrap="none" lIns="0" rIns="0" tIns="0" bIns="0">
            <a:spAutoFit/>
          </a:bodyPr>
          <a:lstStyle/>
          <a:p>
            <a:pPr>
              <a:spcBef>
                <a:spcPts val="0"/>
              </a:spcBef>
              <a:spcAft>
                <a:spcPts val="0"/>
              </a:spcAft>
              <a:defRPr sz="3000" b="1">
                <a:solidFill>
                  <a:srgbClr val="D6B76D"/>
                </a:solidFill>
                <a:latin typeface="Arial"/>
              </a:defRPr>
            </a:pPr>
            <a:r>
              <a:t>04</a:t>
            </a:r>
          </a:p>
        </p:txBody>
      </p:sp>
      <p:sp>
        <p:nvSpPr>
          <p:cNvPr id="20" name="TextBox 19"/>
          <p:cNvSpPr txBox="1"/>
          <p:nvPr/>
        </p:nvSpPr>
        <p:spPr>
          <a:xfrm>
            <a:off x="9740900" y="4813300"/>
            <a:ext cx="2197100" cy="381000"/>
          </a:xfrm>
          <a:prstGeom prst="rect">
            <a:avLst/>
          </a:prstGeom>
          <a:noFill/>
        </p:spPr>
        <p:txBody>
          <a:bodyPr wrap="none" lIns="0" rIns="0" tIns="0" bIns="0">
            <a:spAutoFit/>
          </a:bodyPr>
          <a:lstStyle/>
          <a:p>
            <a:pPr>
              <a:spcBef>
                <a:spcPts val="0"/>
              </a:spcBef>
              <a:spcAft>
                <a:spcPts val="0"/>
              </a:spcAft>
              <a:defRPr sz="2000" b="0">
                <a:solidFill>
                  <a:srgbClr val="FFFFFF"/>
                </a:solidFill>
                <a:latin typeface="Arial"/>
              </a:defRPr>
            </a:pPr>
            <a:r>
              <a:t>Facturer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01 / VISION</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Un suivi continu de chaque intervention</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Centraliser les informations et clarifier les responsabilités.</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ORGANISER</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Réunir les clients, les projets, les techniciens et leurs</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documents dans une même application.</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SUIVRE LE TERRAIN</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Permettre au technicien de déclarer ses heures et de</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décrire les travaux réalisés.</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FAIRE VALIDER</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Confier au responsable client autorisé la validation ou</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 refus motivé des pointages.</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PRÉPARER LA FACTURATION</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Transformer les heures validées en factures, puis</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suivre les règlements et les soldes.</a:t>
            </a:r>
          </a:p>
        </p:txBody>
      </p:sp>
      <p:sp>
        <p:nvSpPr>
          <p:cNvPr id="28" name="Rounded Rectangle 27"/>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Une même intervention reste identifiable du premier pointage au règlement.</a:t>
            </a:r>
          </a:p>
        </p:txBody>
      </p:sp>
      <p:sp>
        <p:nvSpPr>
          <p:cNvPr id="30" name="TextBox 29"/>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Modèles, services métier et interface</a:t>
            </a:r>
          </a:p>
        </p:txBody>
      </p:sp>
      <p:sp>
        <p:nvSpPr>
          <p:cNvPr id="31" name="TextBox 30"/>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01 / VISION</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Le parcours métier de bout en bout</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Chaque étape possède un responsable et une action définie.</a:t>
            </a:r>
          </a:p>
        </p:txBody>
      </p:sp>
      <p:sp>
        <p:nvSpPr>
          <p:cNvPr id="8" name="Rounded Rectangle 7"/>
          <p:cNvSpPr/>
          <p:nvPr/>
        </p:nvSpPr>
        <p:spPr>
          <a:xfrm>
            <a:off x="533400" y="2374900"/>
            <a:ext cx="206248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514600"/>
            <a:ext cx="179578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01</a:t>
            </a:r>
          </a:p>
        </p:txBody>
      </p:sp>
      <p:sp>
        <p:nvSpPr>
          <p:cNvPr id="10" name="TextBox 9"/>
          <p:cNvSpPr txBox="1"/>
          <p:nvPr/>
        </p:nvSpPr>
        <p:spPr>
          <a:xfrm>
            <a:off x="711200" y="2908300"/>
            <a:ext cx="179578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PRÉPARER</a:t>
            </a:r>
          </a:p>
        </p:txBody>
      </p:sp>
      <p:sp>
        <p:nvSpPr>
          <p:cNvPr id="11" name="TextBox 10"/>
          <p:cNvSpPr txBox="1"/>
          <p:nvPr/>
        </p:nvSpPr>
        <p:spPr>
          <a:xfrm>
            <a:off x="711200" y="3213100"/>
            <a:ext cx="179578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Admin / superviseur</a:t>
            </a:r>
          </a:p>
        </p:txBody>
      </p:sp>
      <p:sp>
        <p:nvSpPr>
          <p:cNvPr id="12" name="TextBox 11"/>
          <p:cNvSpPr txBox="1"/>
          <p:nvPr/>
        </p:nvSpPr>
        <p:spPr>
          <a:xfrm>
            <a:off x="711200" y="3543300"/>
            <a:ext cx="179578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Client, projet et affectations</a:t>
            </a:r>
          </a:p>
        </p:txBody>
      </p:sp>
      <p:sp>
        <p:nvSpPr>
          <p:cNvPr id="13" name="TextBox 12"/>
          <p:cNvSpPr txBox="1"/>
          <p:nvPr/>
        </p:nvSpPr>
        <p:spPr>
          <a:xfrm>
            <a:off x="263398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14" name="Rounded Rectangle 13"/>
          <p:cNvSpPr/>
          <p:nvPr/>
        </p:nvSpPr>
        <p:spPr>
          <a:xfrm>
            <a:off x="2799080" y="2374900"/>
            <a:ext cx="206248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76880" y="2514600"/>
            <a:ext cx="179578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02</a:t>
            </a:r>
          </a:p>
        </p:txBody>
      </p:sp>
      <p:sp>
        <p:nvSpPr>
          <p:cNvPr id="16" name="TextBox 15"/>
          <p:cNvSpPr txBox="1"/>
          <p:nvPr/>
        </p:nvSpPr>
        <p:spPr>
          <a:xfrm>
            <a:off x="2976880" y="2908300"/>
            <a:ext cx="179578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DÉCLARER</a:t>
            </a:r>
          </a:p>
        </p:txBody>
      </p:sp>
      <p:sp>
        <p:nvSpPr>
          <p:cNvPr id="17" name="TextBox 16"/>
          <p:cNvSpPr txBox="1"/>
          <p:nvPr/>
        </p:nvSpPr>
        <p:spPr>
          <a:xfrm>
            <a:off x="2976880" y="3213100"/>
            <a:ext cx="179578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Technicien</a:t>
            </a:r>
          </a:p>
        </p:txBody>
      </p:sp>
      <p:sp>
        <p:nvSpPr>
          <p:cNvPr id="18" name="TextBox 17"/>
          <p:cNvSpPr txBox="1"/>
          <p:nvPr/>
        </p:nvSpPr>
        <p:spPr>
          <a:xfrm>
            <a:off x="2976880" y="3543300"/>
            <a:ext cx="179578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Date, durée et travaux</a:t>
            </a:r>
          </a:p>
        </p:txBody>
      </p:sp>
      <p:sp>
        <p:nvSpPr>
          <p:cNvPr id="19" name="TextBox 18"/>
          <p:cNvSpPr txBox="1"/>
          <p:nvPr/>
        </p:nvSpPr>
        <p:spPr>
          <a:xfrm>
            <a:off x="489966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20" name="Rounded Rectangle 19"/>
          <p:cNvSpPr/>
          <p:nvPr/>
        </p:nvSpPr>
        <p:spPr>
          <a:xfrm>
            <a:off x="5064760" y="2374900"/>
            <a:ext cx="206248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2560" y="2514600"/>
            <a:ext cx="179578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03</a:t>
            </a:r>
          </a:p>
        </p:txBody>
      </p:sp>
      <p:sp>
        <p:nvSpPr>
          <p:cNvPr id="22" name="TextBox 21"/>
          <p:cNvSpPr txBox="1"/>
          <p:nvPr/>
        </p:nvSpPr>
        <p:spPr>
          <a:xfrm>
            <a:off x="5242560" y="2908300"/>
            <a:ext cx="179578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VALIDER</a:t>
            </a:r>
          </a:p>
        </p:txBody>
      </p:sp>
      <p:sp>
        <p:nvSpPr>
          <p:cNvPr id="23" name="TextBox 22"/>
          <p:cNvSpPr txBox="1"/>
          <p:nvPr/>
        </p:nvSpPr>
        <p:spPr>
          <a:xfrm>
            <a:off x="5242560" y="3213100"/>
            <a:ext cx="179578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Responsable client</a:t>
            </a:r>
          </a:p>
        </p:txBody>
      </p:sp>
      <p:sp>
        <p:nvSpPr>
          <p:cNvPr id="24" name="TextBox 23"/>
          <p:cNvSpPr txBox="1"/>
          <p:nvPr/>
        </p:nvSpPr>
        <p:spPr>
          <a:xfrm>
            <a:off x="5242560" y="3543300"/>
            <a:ext cx="179578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Accord ou refus motivé</a:t>
            </a:r>
          </a:p>
        </p:txBody>
      </p:sp>
      <p:sp>
        <p:nvSpPr>
          <p:cNvPr id="25" name="TextBox 24"/>
          <p:cNvSpPr txBox="1"/>
          <p:nvPr/>
        </p:nvSpPr>
        <p:spPr>
          <a:xfrm>
            <a:off x="716534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26" name="Rounded Rectangle 25"/>
          <p:cNvSpPr/>
          <p:nvPr/>
        </p:nvSpPr>
        <p:spPr>
          <a:xfrm>
            <a:off x="7330440" y="2374900"/>
            <a:ext cx="206248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8240" y="2514600"/>
            <a:ext cx="179578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04</a:t>
            </a:r>
          </a:p>
        </p:txBody>
      </p:sp>
      <p:sp>
        <p:nvSpPr>
          <p:cNvPr id="28" name="TextBox 27"/>
          <p:cNvSpPr txBox="1"/>
          <p:nvPr/>
        </p:nvSpPr>
        <p:spPr>
          <a:xfrm>
            <a:off x="7508240" y="2908300"/>
            <a:ext cx="179578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FACTURER</a:t>
            </a:r>
          </a:p>
        </p:txBody>
      </p:sp>
      <p:sp>
        <p:nvSpPr>
          <p:cNvPr id="29" name="TextBox 28"/>
          <p:cNvSpPr txBox="1"/>
          <p:nvPr/>
        </p:nvSpPr>
        <p:spPr>
          <a:xfrm>
            <a:off x="7508240" y="3213100"/>
            <a:ext cx="179578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Administrateur</a:t>
            </a:r>
          </a:p>
        </p:txBody>
      </p:sp>
      <p:sp>
        <p:nvSpPr>
          <p:cNvPr id="30" name="TextBox 29"/>
          <p:cNvSpPr txBox="1"/>
          <p:nvPr/>
        </p:nvSpPr>
        <p:spPr>
          <a:xfrm>
            <a:off x="7508240" y="3543300"/>
            <a:ext cx="179578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Pointages validés</a:t>
            </a:r>
          </a:p>
        </p:txBody>
      </p:sp>
      <p:sp>
        <p:nvSpPr>
          <p:cNvPr id="31" name="TextBox 30"/>
          <p:cNvSpPr txBox="1"/>
          <p:nvPr/>
        </p:nvSpPr>
        <p:spPr>
          <a:xfrm>
            <a:off x="943102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32" name="Rounded Rectangle 31"/>
          <p:cNvSpPr/>
          <p:nvPr/>
        </p:nvSpPr>
        <p:spPr>
          <a:xfrm>
            <a:off x="9596120" y="2374900"/>
            <a:ext cx="206248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73920" y="2514600"/>
            <a:ext cx="179578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05</a:t>
            </a:r>
          </a:p>
        </p:txBody>
      </p:sp>
      <p:sp>
        <p:nvSpPr>
          <p:cNvPr id="34" name="TextBox 33"/>
          <p:cNvSpPr txBox="1"/>
          <p:nvPr/>
        </p:nvSpPr>
        <p:spPr>
          <a:xfrm>
            <a:off x="9773920" y="2908300"/>
            <a:ext cx="179578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ENCAISSER</a:t>
            </a:r>
          </a:p>
        </p:txBody>
      </p:sp>
      <p:sp>
        <p:nvSpPr>
          <p:cNvPr id="35" name="TextBox 34"/>
          <p:cNvSpPr txBox="1"/>
          <p:nvPr/>
        </p:nvSpPr>
        <p:spPr>
          <a:xfrm>
            <a:off x="9773920" y="3213100"/>
            <a:ext cx="179578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Administrateur</a:t>
            </a:r>
          </a:p>
        </p:txBody>
      </p:sp>
      <p:sp>
        <p:nvSpPr>
          <p:cNvPr id="36" name="TextBox 35"/>
          <p:cNvSpPr txBox="1"/>
          <p:nvPr/>
        </p:nvSpPr>
        <p:spPr>
          <a:xfrm>
            <a:off x="9773920" y="3543300"/>
            <a:ext cx="179578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Paiement et solde</a:t>
            </a:r>
          </a:p>
        </p:txBody>
      </p:sp>
      <p:sp>
        <p:nvSpPr>
          <p:cNvPr id="37" name="Rounded Rectangle 36"/>
          <p:cNvSpPr/>
          <p:nvPr/>
        </p:nvSpPr>
        <p:spPr>
          <a:xfrm>
            <a:off x="533400" y="4203700"/>
            <a:ext cx="5410200" cy="1549400"/>
          </a:xfrm>
          <a:prstGeom prst="roundRect">
            <a:avLst>
              <a:gd name="adj" fmla="val 655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3400" y="4406900"/>
            <a:ext cx="38100" cy="11430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7400" y="43942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UNE VALIDATION CLIENT</a:t>
            </a:r>
          </a:p>
        </p:txBody>
      </p:sp>
      <p:sp>
        <p:nvSpPr>
          <p:cNvPr id="40" name="TextBox 39"/>
          <p:cNvSpPr txBox="1"/>
          <p:nvPr/>
        </p:nvSpPr>
        <p:spPr>
          <a:xfrm>
            <a:off x="787400" y="47498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L’administrateur et le superviseur suivent les heures ;</a:t>
            </a:r>
          </a:p>
        </p:txBody>
      </p:sp>
      <p:sp>
        <p:nvSpPr>
          <p:cNvPr id="41" name="TextBox 40"/>
          <p:cNvSpPr txBox="1"/>
          <p:nvPr/>
        </p:nvSpPr>
        <p:spPr>
          <a:xfrm>
            <a:off x="787400" y="50017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la décision de validation appartient au responsable</a:t>
            </a:r>
          </a:p>
        </p:txBody>
      </p:sp>
      <p:sp>
        <p:nvSpPr>
          <p:cNvPr id="42" name="TextBox 41"/>
          <p:cNvSpPr txBox="1"/>
          <p:nvPr/>
        </p:nvSpPr>
        <p:spPr>
          <a:xfrm>
            <a:off x="787400" y="52537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client autorisé.</a:t>
            </a:r>
          </a:p>
        </p:txBody>
      </p:sp>
      <p:sp>
        <p:nvSpPr>
          <p:cNvPr id="43" name="Rounded Rectangle 42"/>
          <p:cNvSpPr/>
          <p:nvPr/>
        </p:nvSpPr>
        <p:spPr>
          <a:xfrm>
            <a:off x="6248400" y="4203700"/>
            <a:ext cx="5410200" cy="1549400"/>
          </a:xfrm>
          <a:prstGeom prst="roundRect">
            <a:avLst>
              <a:gd name="adj" fmla="val 655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48400" y="4406900"/>
            <a:ext cx="38100" cy="11430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02400" y="43942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UN HISTORIQUE CONSERVÉ</a:t>
            </a:r>
          </a:p>
        </p:txBody>
      </p:sp>
      <p:sp>
        <p:nvSpPr>
          <p:cNvPr id="46" name="TextBox 45"/>
          <p:cNvSpPr txBox="1"/>
          <p:nvPr/>
        </p:nvSpPr>
        <p:spPr>
          <a:xfrm>
            <a:off x="6502400" y="47498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Les changements d’état sont datés et associés à leur</a:t>
            </a:r>
          </a:p>
        </p:txBody>
      </p:sp>
      <p:sp>
        <p:nvSpPr>
          <p:cNvPr id="47" name="TextBox 46"/>
          <p:cNvSpPr txBox="1"/>
          <p:nvPr/>
        </p:nvSpPr>
        <p:spPr>
          <a:xfrm>
            <a:off x="6502400" y="50017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auteur. Les corrections et les refus restent traçables.</a:t>
            </a:r>
          </a:p>
        </p:txBody>
      </p:sp>
      <p:sp>
        <p:nvSpPr>
          <p:cNvPr id="48" name="Rounded Rectangle 47"/>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La responsabilité de chaque intervenant est visible dans le circuit.</a:t>
            </a:r>
          </a:p>
        </p:txBody>
      </p:sp>
      <p:sp>
        <p:nvSpPr>
          <p:cNvPr id="50" name="TextBox 49"/>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eliteapp/access.py · services.py · serializers.py</a:t>
            </a:r>
          </a:p>
        </p:txBody>
      </p:sp>
      <p:sp>
        <p:nvSpPr>
          <p:cNvPr id="51" name="TextBox 50"/>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01 / VISION</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Les modules disponibles</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Une interface en français, adaptée au rôle connecté.</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PILOTAGE</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Vue d’ensemble, projets en cours, heures pointées,</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pointages à valider et recherche dans les listes.</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ORGANISATION</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Clients, projets, techniciens, comptes de l’équipe et</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affectations aux interventions.</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DOSSIERS TECHNICIENS</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Identité, spécialité, expérience, photo, CV et</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documents de certification.</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SUIVI FINANCIER</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Tarifs par projet, calendrier des jours fériés, factures</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et paiements clients ; gains personnels côté</a:t>
            </a:r>
          </a:p>
        </p:txBody>
      </p:sp>
      <p:sp>
        <p:nvSpPr>
          <p:cNvPr id="28" name="TextBox 27"/>
          <p:cNvSpPr txBox="1"/>
          <p:nvPr/>
        </p:nvSpPr>
        <p:spPr>
          <a:xfrm>
            <a:off x="6502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technicien.</a:t>
            </a:r>
          </a:p>
        </p:txBody>
      </p:sp>
      <p:sp>
        <p:nvSpPr>
          <p:cNvPr id="29" name="Rounded Rectangle 28"/>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Les menus et les données visibles dépendent des autorisations.</a:t>
            </a:r>
          </a:p>
        </p:txBody>
      </p:sp>
      <p:sp>
        <p:nvSpPr>
          <p:cNvPr id="31" name="TextBox 30"/>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frontend/src/App.jsx · forms.jsx</a:t>
            </a:r>
          </a:p>
        </p:txBody>
      </p:sp>
      <p:sp>
        <p:nvSpPr>
          <p:cNvPr id="32" name="TextBox 31"/>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02 / LES ACCÈS</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Quatre rôles, des responsabilités distinctes</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 Équipe » est un menu de gestion des personnes ; le rôle interne est « Superviseur interne ».</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ADMINISTRATEUR</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Gère les comptes, les dossiers, les accès client, les</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clients, les projets, les factures et les paiements.</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SUPERVISEUR INTERNE</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Organise les clients et les projets, affecte les</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techniciens et consulte les pointages et dossiers</a:t>
            </a:r>
          </a:p>
        </p:txBody>
      </p:sp>
      <p:sp>
        <p:nvSpPr>
          <p:cNvPr id="18" name="TextBox 17"/>
          <p:cNvSpPr txBox="1"/>
          <p:nvPr/>
        </p:nvSpPr>
        <p:spPr>
          <a:xfrm>
            <a:off x="6502400" y="33741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internes.</a:t>
            </a:r>
          </a:p>
        </p:txBody>
      </p:sp>
      <p:sp>
        <p:nvSpPr>
          <p:cNvPr id="19" name="Rounded Rectangle 18"/>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TECHNICIEN</a:t>
            </a:r>
          </a:p>
        </p:txBody>
      </p:sp>
      <p:sp>
        <p:nvSpPr>
          <p:cNvPr id="22" name="TextBox 21"/>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Consulte ses projets, déclare ses propres heures,</a:t>
            </a:r>
          </a:p>
        </p:txBody>
      </p:sp>
      <p:sp>
        <p:nvSpPr>
          <p:cNvPr id="23" name="TextBox 22"/>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corrige les pointages autorisés et consulte ses gains.</a:t>
            </a:r>
          </a:p>
        </p:txBody>
      </p:sp>
      <p:sp>
        <p:nvSpPr>
          <p:cNvPr id="24" name="Rounded Rectangle 23"/>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CHEF DE PROJET CLIENT</a:t>
            </a:r>
          </a:p>
        </p:txBody>
      </p:sp>
      <p:sp>
        <p:nvSpPr>
          <p:cNvPr id="27" name="TextBox 26"/>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Consulte son périmètre de projets et valide ou refuse</a:t>
            </a:r>
          </a:p>
        </p:txBody>
      </p:sp>
      <p:sp>
        <p:nvSpPr>
          <p:cNvPr id="28" name="TextBox 27"/>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les pointages soumis. Un compte dédié peut être</a:t>
            </a:r>
          </a:p>
        </p:txBody>
      </p:sp>
      <p:sp>
        <p:nvSpPr>
          <p:cNvPr id="29" name="TextBox 28"/>
          <p:cNvSpPr txBox="1"/>
          <p:nvPr/>
        </p:nvSpPr>
        <p:spPr>
          <a:xfrm>
            <a:off x="6502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limité à un projet.</a:t>
            </a:r>
          </a:p>
        </p:txBody>
      </p:sp>
      <p:sp>
        <p:nvSpPr>
          <p:cNvPr id="30" name="Rounded Rectangle 29"/>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L’accès est contrôlé par le serveur, au-delà des menus affichés.</a:t>
            </a:r>
          </a:p>
        </p:txBody>
      </p:sp>
      <p:sp>
        <p:nvSpPr>
          <p:cNvPr id="32" name="TextBox 31"/>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eliteapp/models.py · access.py · views.py</a:t>
            </a:r>
          </a:p>
        </p:txBody>
      </p:sp>
      <p:sp>
        <p:nvSpPr>
          <p:cNvPr id="33" name="TextBox 32"/>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02 / LES ACCÈS</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Matrice des droits</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Synthèse des opérations et des périmètres autorisés.</a:t>
            </a:r>
          </a:p>
        </p:txBody>
      </p:sp>
      <p:sp>
        <p:nvSpPr>
          <p:cNvPr id="8" name="Rectangle 7"/>
          <p:cNvSpPr/>
          <p:nvPr/>
        </p:nvSpPr>
        <p:spPr>
          <a:xfrm>
            <a:off x="533400" y="2298700"/>
            <a:ext cx="3327400" cy="31115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700" y="2374900"/>
            <a:ext cx="3175000" cy="228600"/>
          </a:xfrm>
          <a:prstGeom prst="rect">
            <a:avLst/>
          </a:prstGeom>
          <a:noFill/>
        </p:spPr>
        <p:txBody>
          <a:bodyPr wrap="none" lIns="0" rIns="0" tIns="0" bIns="0">
            <a:spAutoFit/>
          </a:bodyPr>
          <a:lstStyle/>
          <a:p>
            <a:pPr>
              <a:spcBef>
                <a:spcPts val="0"/>
              </a:spcBef>
              <a:spcAft>
                <a:spcPts val="0"/>
              </a:spcAft>
              <a:defRPr sz="1200" b="1">
                <a:solidFill>
                  <a:srgbClr val="FFFFFF"/>
                </a:solidFill>
                <a:latin typeface="Arial"/>
              </a:defRPr>
            </a:pPr>
            <a:r>
              <a:t>Fonction</a:t>
            </a:r>
          </a:p>
        </p:txBody>
      </p:sp>
      <p:sp>
        <p:nvSpPr>
          <p:cNvPr id="10" name="Rectangle 9"/>
          <p:cNvSpPr/>
          <p:nvPr/>
        </p:nvSpPr>
        <p:spPr>
          <a:xfrm>
            <a:off x="3873500" y="2298700"/>
            <a:ext cx="1676400" cy="31115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87800" y="2374900"/>
            <a:ext cx="1524000" cy="228600"/>
          </a:xfrm>
          <a:prstGeom prst="rect">
            <a:avLst/>
          </a:prstGeom>
          <a:noFill/>
        </p:spPr>
        <p:txBody>
          <a:bodyPr wrap="none" lIns="0" rIns="0" tIns="0" bIns="0">
            <a:spAutoFit/>
          </a:bodyPr>
          <a:lstStyle/>
          <a:p>
            <a:pPr>
              <a:spcBef>
                <a:spcPts val="0"/>
              </a:spcBef>
              <a:spcAft>
                <a:spcPts val="0"/>
              </a:spcAft>
              <a:defRPr sz="1200" b="1">
                <a:solidFill>
                  <a:srgbClr val="FFFFFF"/>
                </a:solidFill>
                <a:latin typeface="Arial"/>
              </a:defRPr>
            </a:pPr>
            <a:r>
              <a:t>Admin</a:t>
            </a:r>
          </a:p>
        </p:txBody>
      </p:sp>
      <p:sp>
        <p:nvSpPr>
          <p:cNvPr id="12" name="Rectangle 11"/>
          <p:cNvSpPr/>
          <p:nvPr/>
        </p:nvSpPr>
        <p:spPr>
          <a:xfrm>
            <a:off x="5562600" y="2298700"/>
            <a:ext cx="1879600" cy="31115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76900" y="2374900"/>
            <a:ext cx="1727200" cy="228600"/>
          </a:xfrm>
          <a:prstGeom prst="rect">
            <a:avLst/>
          </a:prstGeom>
          <a:noFill/>
        </p:spPr>
        <p:txBody>
          <a:bodyPr wrap="none" lIns="0" rIns="0" tIns="0" bIns="0">
            <a:spAutoFit/>
          </a:bodyPr>
          <a:lstStyle/>
          <a:p>
            <a:pPr>
              <a:spcBef>
                <a:spcPts val="0"/>
              </a:spcBef>
              <a:spcAft>
                <a:spcPts val="0"/>
              </a:spcAft>
              <a:defRPr sz="1200" b="1">
                <a:solidFill>
                  <a:srgbClr val="FFFFFF"/>
                </a:solidFill>
                <a:latin typeface="Arial"/>
              </a:defRPr>
            </a:pPr>
            <a:r>
              <a:t>Superviseur</a:t>
            </a:r>
          </a:p>
        </p:txBody>
      </p:sp>
      <p:sp>
        <p:nvSpPr>
          <p:cNvPr id="14" name="Rectangle 13"/>
          <p:cNvSpPr/>
          <p:nvPr/>
        </p:nvSpPr>
        <p:spPr>
          <a:xfrm>
            <a:off x="7454900" y="2298700"/>
            <a:ext cx="2260600" cy="31115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69200" y="2374900"/>
            <a:ext cx="2108200" cy="228600"/>
          </a:xfrm>
          <a:prstGeom prst="rect">
            <a:avLst/>
          </a:prstGeom>
          <a:noFill/>
        </p:spPr>
        <p:txBody>
          <a:bodyPr wrap="none" lIns="0" rIns="0" tIns="0" bIns="0">
            <a:spAutoFit/>
          </a:bodyPr>
          <a:lstStyle/>
          <a:p>
            <a:pPr>
              <a:spcBef>
                <a:spcPts val="0"/>
              </a:spcBef>
              <a:spcAft>
                <a:spcPts val="0"/>
              </a:spcAft>
              <a:defRPr sz="1200" b="1">
                <a:solidFill>
                  <a:srgbClr val="FFFFFF"/>
                </a:solidFill>
                <a:latin typeface="Arial"/>
              </a:defRPr>
            </a:pPr>
            <a:r>
              <a:t>Technicien</a:t>
            </a:r>
          </a:p>
        </p:txBody>
      </p:sp>
      <p:sp>
        <p:nvSpPr>
          <p:cNvPr id="16" name="Rectangle 15"/>
          <p:cNvSpPr/>
          <p:nvPr/>
        </p:nvSpPr>
        <p:spPr>
          <a:xfrm>
            <a:off x="9728200" y="2298700"/>
            <a:ext cx="1917700" cy="31115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42500" y="2374900"/>
            <a:ext cx="1765300" cy="228600"/>
          </a:xfrm>
          <a:prstGeom prst="rect">
            <a:avLst/>
          </a:prstGeom>
          <a:noFill/>
        </p:spPr>
        <p:txBody>
          <a:bodyPr wrap="none" lIns="0" rIns="0" tIns="0" bIns="0">
            <a:spAutoFit/>
          </a:bodyPr>
          <a:lstStyle/>
          <a:p>
            <a:pPr>
              <a:spcBef>
                <a:spcPts val="0"/>
              </a:spcBef>
              <a:spcAft>
                <a:spcPts val="0"/>
              </a:spcAft>
              <a:defRPr sz="1200" b="1">
                <a:solidFill>
                  <a:srgbClr val="FFFFFF"/>
                </a:solidFill>
                <a:latin typeface="Arial"/>
              </a:defRPr>
            </a:pPr>
            <a:r>
              <a:t>Client</a:t>
            </a:r>
          </a:p>
        </p:txBody>
      </p:sp>
      <p:sp>
        <p:nvSpPr>
          <p:cNvPr id="18" name="Rectangle 17"/>
          <p:cNvSpPr/>
          <p:nvPr/>
        </p:nvSpPr>
        <p:spPr>
          <a:xfrm>
            <a:off x="533400" y="2622550"/>
            <a:ext cx="33274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700" y="2698750"/>
            <a:ext cx="3175000" cy="215265"/>
          </a:xfrm>
          <a:prstGeom prst="rect">
            <a:avLst/>
          </a:prstGeom>
          <a:noFill/>
        </p:spPr>
        <p:txBody>
          <a:bodyPr wrap="none" lIns="0" rIns="0" tIns="0" bIns="0">
            <a:spAutoFit/>
          </a:bodyPr>
          <a:lstStyle/>
          <a:p>
            <a:pPr>
              <a:spcBef>
                <a:spcPts val="0"/>
              </a:spcBef>
              <a:spcAft>
                <a:spcPts val="0"/>
              </a:spcAft>
              <a:defRPr sz="1130" b="1">
                <a:solidFill>
                  <a:srgbClr val="173E46"/>
                </a:solidFill>
                <a:latin typeface="Arial"/>
              </a:defRPr>
            </a:pPr>
            <a:r>
              <a:t>Comptes de l’équipe</a:t>
            </a:r>
          </a:p>
        </p:txBody>
      </p:sp>
      <p:sp>
        <p:nvSpPr>
          <p:cNvPr id="20" name="Rectangle 19"/>
          <p:cNvSpPr/>
          <p:nvPr/>
        </p:nvSpPr>
        <p:spPr>
          <a:xfrm>
            <a:off x="3873500" y="2622550"/>
            <a:ext cx="16764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87800" y="2698750"/>
            <a:ext cx="15240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Gérer</a:t>
            </a:r>
          </a:p>
        </p:txBody>
      </p:sp>
      <p:sp>
        <p:nvSpPr>
          <p:cNvPr id="22" name="Rectangle 21"/>
          <p:cNvSpPr/>
          <p:nvPr/>
        </p:nvSpPr>
        <p:spPr>
          <a:xfrm>
            <a:off x="5562600" y="2622550"/>
            <a:ext cx="18796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76900" y="2698750"/>
            <a:ext cx="1727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Consulter¹</a:t>
            </a:r>
          </a:p>
        </p:txBody>
      </p:sp>
      <p:sp>
        <p:nvSpPr>
          <p:cNvPr id="24" name="Rectangle 23"/>
          <p:cNvSpPr/>
          <p:nvPr/>
        </p:nvSpPr>
        <p:spPr>
          <a:xfrm>
            <a:off x="7454900" y="2622550"/>
            <a:ext cx="22606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69200" y="2698750"/>
            <a:ext cx="2108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26" name="Rectangle 25"/>
          <p:cNvSpPr/>
          <p:nvPr/>
        </p:nvSpPr>
        <p:spPr>
          <a:xfrm>
            <a:off x="9728200" y="2622550"/>
            <a:ext cx="19177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42500" y="2698750"/>
            <a:ext cx="17653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Consulter¹</a:t>
            </a:r>
          </a:p>
        </p:txBody>
      </p:sp>
      <p:sp>
        <p:nvSpPr>
          <p:cNvPr id="28" name="Rectangle 27"/>
          <p:cNvSpPr/>
          <p:nvPr/>
        </p:nvSpPr>
        <p:spPr>
          <a:xfrm>
            <a:off x="533400" y="2946400"/>
            <a:ext cx="33274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7700" y="3022600"/>
            <a:ext cx="3175000" cy="215265"/>
          </a:xfrm>
          <a:prstGeom prst="rect">
            <a:avLst/>
          </a:prstGeom>
          <a:noFill/>
        </p:spPr>
        <p:txBody>
          <a:bodyPr wrap="none" lIns="0" rIns="0" tIns="0" bIns="0">
            <a:spAutoFit/>
          </a:bodyPr>
          <a:lstStyle/>
          <a:p>
            <a:pPr>
              <a:spcBef>
                <a:spcPts val="0"/>
              </a:spcBef>
              <a:spcAft>
                <a:spcPts val="0"/>
              </a:spcAft>
              <a:defRPr sz="1130" b="1">
                <a:solidFill>
                  <a:srgbClr val="173E46"/>
                </a:solidFill>
                <a:latin typeface="Arial"/>
              </a:defRPr>
            </a:pPr>
            <a:r>
              <a:t>Accès client par projet</a:t>
            </a:r>
          </a:p>
        </p:txBody>
      </p:sp>
      <p:sp>
        <p:nvSpPr>
          <p:cNvPr id="30" name="Rectangle 29"/>
          <p:cNvSpPr/>
          <p:nvPr/>
        </p:nvSpPr>
        <p:spPr>
          <a:xfrm>
            <a:off x="3873500" y="2946400"/>
            <a:ext cx="16764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87800" y="3022600"/>
            <a:ext cx="15240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Gérer</a:t>
            </a:r>
          </a:p>
        </p:txBody>
      </p:sp>
      <p:sp>
        <p:nvSpPr>
          <p:cNvPr id="32" name="Rectangle 31"/>
          <p:cNvSpPr/>
          <p:nvPr/>
        </p:nvSpPr>
        <p:spPr>
          <a:xfrm>
            <a:off x="5562600" y="2946400"/>
            <a:ext cx="18796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76900" y="3022600"/>
            <a:ext cx="1727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34" name="Rectangle 33"/>
          <p:cNvSpPr/>
          <p:nvPr/>
        </p:nvSpPr>
        <p:spPr>
          <a:xfrm>
            <a:off x="7454900" y="2946400"/>
            <a:ext cx="22606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69200" y="3022600"/>
            <a:ext cx="2108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36" name="Rectangle 35"/>
          <p:cNvSpPr/>
          <p:nvPr/>
        </p:nvSpPr>
        <p:spPr>
          <a:xfrm>
            <a:off x="9728200" y="2946400"/>
            <a:ext cx="19177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42500" y="3022600"/>
            <a:ext cx="17653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38" name="Rectangle 37"/>
          <p:cNvSpPr/>
          <p:nvPr/>
        </p:nvSpPr>
        <p:spPr>
          <a:xfrm>
            <a:off x="533400" y="3270250"/>
            <a:ext cx="33274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7700" y="3346450"/>
            <a:ext cx="3175000" cy="215265"/>
          </a:xfrm>
          <a:prstGeom prst="rect">
            <a:avLst/>
          </a:prstGeom>
          <a:noFill/>
        </p:spPr>
        <p:txBody>
          <a:bodyPr wrap="none" lIns="0" rIns="0" tIns="0" bIns="0">
            <a:spAutoFit/>
          </a:bodyPr>
          <a:lstStyle/>
          <a:p>
            <a:pPr>
              <a:spcBef>
                <a:spcPts val="0"/>
              </a:spcBef>
              <a:spcAft>
                <a:spcPts val="0"/>
              </a:spcAft>
              <a:defRPr sz="1130" b="1">
                <a:solidFill>
                  <a:srgbClr val="173E46"/>
                </a:solidFill>
                <a:latin typeface="Arial"/>
              </a:defRPr>
            </a:pPr>
            <a:r>
              <a:t>Clients / projets</a:t>
            </a:r>
          </a:p>
        </p:txBody>
      </p:sp>
      <p:sp>
        <p:nvSpPr>
          <p:cNvPr id="40" name="Rectangle 39"/>
          <p:cNvSpPr/>
          <p:nvPr/>
        </p:nvSpPr>
        <p:spPr>
          <a:xfrm>
            <a:off x="3873500" y="3270250"/>
            <a:ext cx="16764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87800" y="3346450"/>
            <a:ext cx="15240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Gérer</a:t>
            </a:r>
          </a:p>
        </p:txBody>
      </p:sp>
      <p:sp>
        <p:nvSpPr>
          <p:cNvPr id="42" name="Rectangle 41"/>
          <p:cNvSpPr/>
          <p:nvPr/>
        </p:nvSpPr>
        <p:spPr>
          <a:xfrm>
            <a:off x="5562600" y="3270250"/>
            <a:ext cx="18796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76900" y="3346450"/>
            <a:ext cx="1727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Gérer</a:t>
            </a:r>
          </a:p>
        </p:txBody>
      </p:sp>
      <p:sp>
        <p:nvSpPr>
          <p:cNvPr id="44" name="Rectangle 43"/>
          <p:cNvSpPr/>
          <p:nvPr/>
        </p:nvSpPr>
        <p:spPr>
          <a:xfrm>
            <a:off x="7454900" y="3270250"/>
            <a:ext cx="22606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69200" y="3346450"/>
            <a:ext cx="2108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Ses projets</a:t>
            </a:r>
          </a:p>
        </p:txBody>
      </p:sp>
      <p:sp>
        <p:nvSpPr>
          <p:cNvPr id="46" name="Rectangle 45"/>
          <p:cNvSpPr/>
          <p:nvPr/>
        </p:nvSpPr>
        <p:spPr>
          <a:xfrm>
            <a:off x="9728200" y="3270250"/>
            <a:ext cx="19177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42500" y="3346450"/>
            <a:ext cx="17653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Ses projets</a:t>
            </a:r>
          </a:p>
        </p:txBody>
      </p:sp>
      <p:sp>
        <p:nvSpPr>
          <p:cNvPr id="48" name="Rectangle 47"/>
          <p:cNvSpPr/>
          <p:nvPr/>
        </p:nvSpPr>
        <p:spPr>
          <a:xfrm>
            <a:off x="533400" y="3594100"/>
            <a:ext cx="33274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7700" y="3670300"/>
            <a:ext cx="3175000" cy="215265"/>
          </a:xfrm>
          <a:prstGeom prst="rect">
            <a:avLst/>
          </a:prstGeom>
          <a:noFill/>
        </p:spPr>
        <p:txBody>
          <a:bodyPr wrap="none" lIns="0" rIns="0" tIns="0" bIns="0">
            <a:spAutoFit/>
          </a:bodyPr>
          <a:lstStyle/>
          <a:p>
            <a:pPr>
              <a:spcBef>
                <a:spcPts val="0"/>
              </a:spcBef>
              <a:spcAft>
                <a:spcPts val="0"/>
              </a:spcAft>
              <a:defRPr sz="1130" b="1">
                <a:solidFill>
                  <a:srgbClr val="173E46"/>
                </a:solidFill>
                <a:latin typeface="Arial"/>
              </a:defRPr>
            </a:pPr>
            <a:r>
              <a:t>CV / photos / certificats</a:t>
            </a:r>
          </a:p>
        </p:txBody>
      </p:sp>
      <p:sp>
        <p:nvSpPr>
          <p:cNvPr id="50" name="Rectangle 49"/>
          <p:cNvSpPr/>
          <p:nvPr/>
        </p:nvSpPr>
        <p:spPr>
          <a:xfrm>
            <a:off x="3873500" y="3594100"/>
            <a:ext cx="16764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987800" y="3670300"/>
            <a:ext cx="15240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Gérer</a:t>
            </a:r>
          </a:p>
        </p:txBody>
      </p:sp>
      <p:sp>
        <p:nvSpPr>
          <p:cNvPr id="52" name="Rectangle 51"/>
          <p:cNvSpPr/>
          <p:nvPr/>
        </p:nvSpPr>
        <p:spPr>
          <a:xfrm>
            <a:off x="5562600" y="3594100"/>
            <a:ext cx="18796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76900" y="3670300"/>
            <a:ext cx="1727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Consulter</a:t>
            </a:r>
          </a:p>
        </p:txBody>
      </p:sp>
      <p:sp>
        <p:nvSpPr>
          <p:cNvPr id="54" name="Rectangle 53"/>
          <p:cNvSpPr/>
          <p:nvPr/>
        </p:nvSpPr>
        <p:spPr>
          <a:xfrm>
            <a:off x="7454900" y="3594100"/>
            <a:ext cx="22606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569200" y="3670300"/>
            <a:ext cx="2108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56" name="Rectangle 55"/>
          <p:cNvSpPr/>
          <p:nvPr/>
        </p:nvSpPr>
        <p:spPr>
          <a:xfrm>
            <a:off x="9728200" y="3594100"/>
            <a:ext cx="19177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42500" y="3670300"/>
            <a:ext cx="17653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58" name="Rectangle 57"/>
          <p:cNvSpPr/>
          <p:nvPr/>
        </p:nvSpPr>
        <p:spPr>
          <a:xfrm>
            <a:off x="533400" y="3917950"/>
            <a:ext cx="33274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7700" y="3994150"/>
            <a:ext cx="3175000" cy="215265"/>
          </a:xfrm>
          <a:prstGeom prst="rect">
            <a:avLst/>
          </a:prstGeom>
          <a:noFill/>
        </p:spPr>
        <p:txBody>
          <a:bodyPr wrap="none" lIns="0" rIns="0" tIns="0" bIns="0">
            <a:spAutoFit/>
          </a:bodyPr>
          <a:lstStyle/>
          <a:p>
            <a:pPr>
              <a:spcBef>
                <a:spcPts val="0"/>
              </a:spcBef>
              <a:spcAft>
                <a:spcPts val="0"/>
              </a:spcAft>
              <a:defRPr sz="1130" b="1">
                <a:solidFill>
                  <a:srgbClr val="173E46"/>
                </a:solidFill>
                <a:latin typeface="Arial"/>
              </a:defRPr>
            </a:pPr>
            <a:r>
              <a:t>Pointages</a:t>
            </a:r>
          </a:p>
        </p:txBody>
      </p:sp>
      <p:sp>
        <p:nvSpPr>
          <p:cNvPr id="60" name="Rectangle 59"/>
          <p:cNvSpPr/>
          <p:nvPr/>
        </p:nvSpPr>
        <p:spPr>
          <a:xfrm>
            <a:off x="3873500" y="3917950"/>
            <a:ext cx="16764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987800" y="3994150"/>
            <a:ext cx="15240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Consulter</a:t>
            </a:r>
          </a:p>
        </p:txBody>
      </p:sp>
      <p:sp>
        <p:nvSpPr>
          <p:cNvPr id="62" name="Rectangle 61"/>
          <p:cNvSpPr/>
          <p:nvPr/>
        </p:nvSpPr>
        <p:spPr>
          <a:xfrm>
            <a:off x="5562600" y="3917950"/>
            <a:ext cx="18796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676900" y="3994150"/>
            <a:ext cx="1727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Consulter</a:t>
            </a:r>
          </a:p>
        </p:txBody>
      </p:sp>
      <p:sp>
        <p:nvSpPr>
          <p:cNvPr id="64" name="Rectangle 63"/>
          <p:cNvSpPr/>
          <p:nvPr/>
        </p:nvSpPr>
        <p:spPr>
          <a:xfrm>
            <a:off x="7454900" y="3917950"/>
            <a:ext cx="22606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569200" y="3994150"/>
            <a:ext cx="2108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Saisir / soumettre²</a:t>
            </a:r>
          </a:p>
        </p:txBody>
      </p:sp>
      <p:sp>
        <p:nvSpPr>
          <p:cNvPr id="66" name="Rectangle 65"/>
          <p:cNvSpPr/>
          <p:nvPr/>
        </p:nvSpPr>
        <p:spPr>
          <a:xfrm>
            <a:off x="9728200" y="3917950"/>
            <a:ext cx="19177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42500" y="3994150"/>
            <a:ext cx="17653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Consulter³</a:t>
            </a:r>
          </a:p>
        </p:txBody>
      </p:sp>
      <p:sp>
        <p:nvSpPr>
          <p:cNvPr id="68" name="Rectangle 67"/>
          <p:cNvSpPr/>
          <p:nvPr/>
        </p:nvSpPr>
        <p:spPr>
          <a:xfrm>
            <a:off x="533400" y="4241800"/>
            <a:ext cx="33274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7700" y="4318000"/>
            <a:ext cx="3175000" cy="215265"/>
          </a:xfrm>
          <a:prstGeom prst="rect">
            <a:avLst/>
          </a:prstGeom>
          <a:noFill/>
        </p:spPr>
        <p:txBody>
          <a:bodyPr wrap="none" lIns="0" rIns="0" tIns="0" bIns="0">
            <a:spAutoFit/>
          </a:bodyPr>
          <a:lstStyle/>
          <a:p>
            <a:pPr>
              <a:spcBef>
                <a:spcPts val="0"/>
              </a:spcBef>
              <a:spcAft>
                <a:spcPts val="0"/>
              </a:spcAft>
              <a:defRPr sz="1130" b="1">
                <a:solidFill>
                  <a:srgbClr val="173E46"/>
                </a:solidFill>
                <a:latin typeface="Arial"/>
              </a:defRPr>
            </a:pPr>
            <a:r>
              <a:t>Validation / refus</a:t>
            </a:r>
          </a:p>
        </p:txBody>
      </p:sp>
      <p:sp>
        <p:nvSpPr>
          <p:cNvPr id="70" name="Rectangle 69"/>
          <p:cNvSpPr/>
          <p:nvPr/>
        </p:nvSpPr>
        <p:spPr>
          <a:xfrm>
            <a:off x="3873500" y="4241800"/>
            <a:ext cx="16764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987800" y="4318000"/>
            <a:ext cx="15240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72" name="Rectangle 71"/>
          <p:cNvSpPr/>
          <p:nvPr/>
        </p:nvSpPr>
        <p:spPr>
          <a:xfrm>
            <a:off x="5562600" y="4241800"/>
            <a:ext cx="18796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676900" y="4318000"/>
            <a:ext cx="1727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74" name="Rectangle 73"/>
          <p:cNvSpPr/>
          <p:nvPr/>
        </p:nvSpPr>
        <p:spPr>
          <a:xfrm>
            <a:off x="7454900" y="4241800"/>
            <a:ext cx="22606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569200" y="4318000"/>
            <a:ext cx="2108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76" name="Rectangle 75"/>
          <p:cNvSpPr/>
          <p:nvPr/>
        </p:nvSpPr>
        <p:spPr>
          <a:xfrm>
            <a:off x="9728200" y="4241800"/>
            <a:ext cx="19177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842500" y="4318000"/>
            <a:ext cx="17653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Son périmètre</a:t>
            </a:r>
          </a:p>
        </p:txBody>
      </p:sp>
      <p:sp>
        <p:nvSpPr>
          <p:cNvPr id="78" name="Rectangle 77"/>
          <p:cNvSpPr/>
          <p:nvPr/>
        </p:nvSpPr>
        <p:spPr>
          <a:xfrm>
            <a:off x="533400" y="4565650"/>
            <a:ext cx="33274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7700" y="4641850"/>
            <a:ext cx="3175000" cy="215265"/>
          </a:xfrm>
          <a:prstGeom prst="rect">
            <a:avLst/>
          </a:prstGeom>
          <a:noFill/>
        </p:spPr>
        <p:txBody>
          <a:bodyPr wrap="none" lIns="0" rIns="0" tIns="0" bIns="0">
            <a:spAutoFit/>
          </a:bodyPr>
          <a:lstStyle/>
          <a:p>
            <a:pPr>
              <a:spcBef>
                <a:spcPts val="0"/>
              </a:spcBef>
              <a:spcAft>
                <a:spcPts val="0"/>
              </a:spcAft>
              <a:defRPr sz="1130" b="1">
                <a:solidFill>
                  <a:srgbClr val="173E46"/>
                </a:solidFill>
                <a:latin typeface="Arial"/>
              </a:defRPr>
            </a:pPr>
            <a:r>
              <a:t>Tarifs commerciaux</a:t>
            </a:r>
          </a:p>
        </p:txBody>
      </p:sp>
      <p:sp>
        <p:nvSpPr>
          <p:cNvPr id="80" name="Rectangle 79"/>
          <p:cNvSpPr/>
          <p:nvPr/>
        </p:nvSpPr>
        <p:spPr>
          <a:xfrm>
            <a:off x="3873500" y="4565650"/>
            <a:ext cx="16764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987800" y="4641850"/>
            <a:ext cx="15240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Gérer</a:t>
            </a:r>
          </a:p>
        </p:txBody>
      </p:sp>
      <p:sp>
        <p:nvSpPr>
          <p:cNvPr id="82" name="Rectangle 81"/>
          <p:cNvSpPr/>
          <p:nvPr/>
        </p:nvSpPr>
        <p:spPr>
          <a:xfrm>
            <a:off x="5562600" y="4565650"/>
            <a:ext cx="18796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676900" y="4641850"/>
            <a:ext cx="1727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Gérer</a:t>
            </a:r>
          </a:p>
        </p:txBody>
      </p:sp>
      <p:sp>
        <p:nvSpPr>
          <p:cNvPr id="84" name="Rectangle 83"/>
          <p:cNvSpPr/>
          <p:nvPr/>
        </p:nvSpPr>
        <p:spPr>
          <a:xfrm>
            <a:off x="7454900" y="4565650"/>
            <a:ext cx="22606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569200" y="4641850"/>
            <a:ext cx="2108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86" name="Rectangle 85"/>
          <p:cNvSpPr/>
          <p:nvPr/>
        </p:nvSpPr>
        <p:spPr>
          <a:xfrm>
            <a:off x="9728200" y="4565650"/>
            <a:ext cx="19177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842500" y="4641850"/>
            <a:ext cx="17653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88" name="Rectangle 87"/>
          <p:cNvSpPr/>
          <p:nvPr/>
        </p:nvSpPr>
        <p:spPr>
          <a:xfrm>
            <a:off x="533400" y="4889500"/>
            <a:ext cx="33274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47700" y="4965700"/>
            <a:ext cx="3175000" cy="215265"/>
          </a:xfrm>
          <a:prstGeom prst="rect">
            <a:avLst/>
          </a:prstGeom>
          <a:noFill/>
        </p:spPr>
        <p:txBody>
          <a:bodyPr wrap="none" lIns="0" rIns="0" tIns="0" bIns="0">
            <a:spAutoFit/>
          </a:bodyPr>
          <a:lstStyle/>
          <a:p>
            <a:pPr>
              <a:spcBef>
                <a:spcPts val="0"/>
              </a:spcBef>
              <a:spcAft>
                <a:spcPts val="0"/>
              </a:spcAft>
              <a:defRPr sz="1130" b="1">
                <a:solidFill>
                  <a:srgbClr val="173E46"/>
                </a:solidFill>
                <a:latin typeface="Arial"/>
              </a:defRPr>
            </a:pPr>
            <a:r>
              <a:t>Factures / encaissements</a:t>
            </a:r>
          </a:p>
        </p:txBody>
      </p:sp>
      <p:sp>
        <p:nvSpPr>
          <p:cNvPr id="90" name="Rectangle 89"/>
          <p:cNvSpPr/>
          <p:nvPr/>
        </p:nvSpPr>
        <p:spPr>
          <a:xfrm>
            <a:off x="3873500" y="4889500"/>
            <a:ext cx="16764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987800" y="4965700"/>
            <a:ext cx="15240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Gérer</a:t>
            </a:r>
          </a:p>
        </p:txBody>
      </p:sp>
      <p:sp>
        <p:nvSpPr>
          <p:cNvPr id="92" name="Rectangle 91"/>
          <p:cNvSpPr/>
          <p:nvPr/>
        </p:nvSpPr>
        <p:spPr>
          <a:xfrm>
            <a:off x="5562600" y="4889500"/>
            <a:ext cx="18796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676900" y="4965700"/>
            <a:ext cx="1727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94" name="Rectangle 93"/>
          <p:cNvSpPr/>
          <p:nvPr/>
        </p:nvSpPr>
        <p:spPr>
          <a:xfrm>
            <a:off x="7454900" y="4889500"/>
            <a:ext cx="22606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569200" y="4965700"/>
            <a:ext cx="2108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96" name="Rectangle 95"/>
          <p:cNvSpPr/>
          <p:nvPr/>
        </p:nvSpPr>
        <p:spPr>
          <a:xfrm>
            <a:off x="9728200" y="4889500"/>
            <a:ext cx="19177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842500" y="4965700"/>
            <a:ext cx="17653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98" name="Rectangle 97"/>
          <p:cNvSpPr/>
          <p:nvPr/>
        </p:nvSpPr>
        <p:spPr>
          <a:xfrm>
            <a:off x="533400" y="5213350"/>
            <a:ext cx="33274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47700" y="5289550"/>
            <a:ext cx="3175000" cy="215265"/>
          </a:xfrm>
          <a:prstGeom prst="rect">
            <a:avLst/>
          </a:prstGeom>
          <a:noFill/>
        </p:spPr>
        <p:txBody>
          <a:bodyPr wrap="none" lIns="0" rIns="0" tIns="0" bIns="0">
            <a:spAutoFit/>
          </a:bodyPr>
          <a:lstStyle/>
          <a:p>
            <a:pPr>
              <a:spcBef>
                <a:spcPts val="0"/>
              </a:spcBef>
              <a:spcAft>
                <a:spcPts val="0"/>
              </a:spcAft>
              <a:defRPr sz="1130" b="1">
                <a:solidFill>
                  <a:srgbClr val="173E46"/>
                </a:solidFill>
                <a:latin typeface="Arial"/>
              </a:defRPr>
            </a:pPr>
            <a:r>
              <a:t>Gains technicien</a:t>
            </a:r>
          </a:p>
        </p:txBody>
      </p:sp>
      <p:sp>
        <p:nvSpPr>
          <p:cNvPr id="100" name="Rectangle 99"/>
          <p:cNvSpPr/>
          <p:nvPr/>
        </p:nvSpPr>
        <p:spPr>
          <a:xfrm>
            <a:off x="3873500" y="5213350"/>
            <a:ext cx="16764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987800" y="5289550"/>
            <a:ext cx="15240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Coûts projet</a:t>
            </a:r>
          </a:p>
        </p:txBody>
      </p:sp>
      <p:sp>
        <p:nvSpPr>
          <p:cNvPr id="102" name="Rectangle 101"/>
          <p:cNvSpPr/>
          <p:nvPr/>
        </p:nvSpPr>
        <p:spPr>
          <a:xfrm>
            <a:off x="5562600" y="5213350"/>
            <a:ext cx="18796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676900" y="5289550"/>
            <a:ext cx="1727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Coûts projet</a:t>
            </a:r>
          </a:p>
        </p:txBody>
      </p:sp>
      <p:sp>
        <p:nvSpPr>
          <p:cNvPr id="104" name="Rectangle 103"/>
          <p:cNvSpPr/>
          <p:nvPr/>
        </p:nvSpPr>
        <p:spPr>
          <a:xfrm>
            <a:off x="7454900" y="5213350"/>
            <a:ext cx="22606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569200" y="5289550"/>
            <a:ext cx="2108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Ses gains</a:t>
            </a:r>
          </a:p>
        </p:txBody>
      </p:sp>
      <p:sp>
        <p:nvSpPr>
          <p:cNvPr id="106" name="Rectangle 105"/>
          <p:cNvSpPr/>
          <p:nvPr/>
        </p:nvSpPr>
        <p:spPr>
          <a:xfrm>
            <a:off x="9728200" y="5213350"/>
            <a:ext cx="1917700" cy="311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42500" y="5289550"/>
            <a:ext cx="17653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108" name="Rectangle 107"/>
          <p:cNvSpPr/>
          <p:nvPr/>
        </p:nvSpPr>
        <p:spPr>
          <a:xfrm>
            <a:off x="533400" y="5537200"/>
            <a:ext cx="33274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47700" y="5613400"/>
            <a:ext cx="3175000" cy="215265"/>
          </a:xfrm>
          <a:prstGeom prst="rect">
            <a:avLst/>
          </a:prstGeom>
          <a:noFill/>
        </p:spPr>
        <p:txBody>
          <a:bodyPr wrap="none" lIns="0" rIns="0" tIns="0" bIns="0">
            <a:spAutoFit/>
          </a:bodyPr>
          <a:lstStyle/>
          <a:p>
            <a:pPr>
              <a:spcBef>
                <a:spcPts val="0"/>
              </a:spcBef>
              <a:spcAft>
                <a:spcPts val="0"/>
              </a:spcAft>
              <a:defRPr sz="1130" b="1">
                <a:solidFill>
                  <a:srgbClr val="173E46"/>
                </a:solidFill>
                <a:latin typeface="Arial"/>
              </a:defRPr>
            </a:pPr>
            <a:r>
              <a:t>Calendrier férié</a:t>
            </a:r>
          </a:p>
        </p:txBody>
      </p:sp>
      <p:sp>
        <p:nvSpPr>
          <p:cNvPr id="110" name="Rectangle 109"/>
          <p:cNvSpPr/>
          <p:nvPr/>
        </p:nvSpPr>
        <p:spPr>
          <a:xfrm>
            <a:off x="3873500" y="5537200"/>
            <a:ext cx="16764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987800" y="5613400"/>
            <a:ext cx="15240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Gérer</a:t>
            </a:r>
          </a:p>
        </p:txBody>
      </p:sp>
      <p:sp>
        <p:nvSpPr>
          <p:cNvPr id="112" name="Rectangle 111"/>
          <p:cNvSpPr/>
          <p:nvPr/>
        </p:nvSpPr>
        <p:spPr>
          <a:xfrm>
            <a:off x="5562600" y="5537200"/>
            <a:ext cx="18796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676900" y="5613400"/>
            <a:ext cx="1727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114" name="Rectangle 113"/>
          <p:cNvSpPr/>
          <p:nvPr/>
        </p:nvSpPr>
        <p:spPr>
          <a:xfrm>
            <a:off x="7454900" y="5537200"/>
            <a:ext cx="22606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569200" y="5613400"/>
            <a:ext cx="21082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116" name="Rectangle 115"/>
          <p:cNvSpPr/>
          <p:nvPr/>
        </p:nvSpPr>
        <p:spPr>
          <a:xfrm>
            <a:off x="9728200" y="5537200"/>
            <a:ext cx="1917700" cy="311150"/>
          </a:xfrm>
          <a:prstGeom prst="rect">
            <a:avLst/>
          </a:prstGeom>
          <a:solidFill>
            <a:srgbClr val="E5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9842500" y="5613400"/>
            <a:ext cx="1765300" cy="215265"/>
          </a:xfrm>
          <a:prstGeom prst="rect">
            <a:avLst/>
          </a:prstGeom>
          <a:noFill/>
        </p:spPr>
        <p:txBody>
          <a:bodyPr wrap="none" lIns="0" rIns="0" tIns="0" bIns="0">
            <a:spAutoFit/>
          </a:bodyPr>
          <a:lstStyle/>
          <a:p>
            <a:pPr>
              <a:spcBef>
                <a:spcPts val="0"/>
              </a:spcBef>
              <a:spcAft>
                <a:spcPts val="0"/>
              </a:spcAft>
              <a:defRPr sz="1130" b="0">
                <a:solidFill>
                  <a:srgbClr val="173E46"/>
                </a:solidFill>
                <a:latin typeface="Arial"/>
              </a:defRPr>
            </a:pPr>
            <a:r>
              <a:t>—</a:t>
            </a:r>
          </a:p>
        </p:txBody>
      </p:sp>
      <p:sp>
        <p:nvSpPr>
          <p:cNvPr id="118" name="Rounded Rectangle 117"/>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¹ Selon périmètre. ² Ses propres pointages. ³ Les brouillons sont exclus.</a:t>
            </a:r>
          </a:p>
        </p:txBody>
      </p:sp>
      <p:sp>
        <p:nvSpPr>
          <p:cNvPr id="120" name="TextBox 119"/>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Contrôles serveur : access.py · views.py · serializers.py</a:t>
            </a:r>
          </a:p>
        </p:txBody>
      </p:sp>
      <p:sp>
        <p:nvSpPr>
          <p:cNvPr id="121" name="TextBox 120"/>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03 / ADMINISTRATION</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Le tableau de bord administrateur</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Identifier rapidement l’activité et les actions en attente.</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ACTIVITÉ</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Heures pointées et projets en cours pour suivre le</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volume d’interventions enregistré.</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VALIDATIONS</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Nombre de pointages soumis en attente de décision</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du responsable client.</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TRÉSORERIE CLIENT</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Reste à encaisser calculé à partir du solde des</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factures émises.</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ACCÈS AUX DÉTAILS</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Projets actifs et derniers pointages ; ouverture des</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listes pour consulter les informations complètes.</a:t>
            </a:r>
          </a:p>
        </p:txBody>
      </p:sp>
      <p:sp>
        <p:nvSpPr>
          <p:cNvPr id="28" name="Rounded Rectangle 27"/>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Les indicateurs des autres rôles sont limités à leurs données accessibles.</a:t>
            </a:r>
          </a:p>
        </p:txBody>
      </p:sp>
      <p:sp>
        <p:nvSpPr>
          <p:cNvPr id="30" name="TextBox 29"/>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DashboardView · frontend/src/App.jsx</a:t>
            </a:r>
          </a:p>
        </p:txBody>
      </p:sp>
      <p:sp>
        <p:nvSpPr>
          <p:cNvPr id="31" name="TextBox 30"/>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03 / ADMINISTRATION</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Clients : un référentiel structuré</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Administrateur et superviseur renseignent les entreprises clientes.</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IDENTITÉ ET CONTACT</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Société, personne à contacter, téléphone, email et</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logo de l’entreprise.</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INFORMATIONS ADMINISTRATIVES</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N° RC, NIF, NIS, n° article, adresse de facturation et</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date de début de travail.</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LIEN AVEC LES PROJETS</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Chaque projet est rattaché à un client. Les comptes</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responsables client sont rattachés à leur entreprise.</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CONSERVATION DE L’HISTORIQUE</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Désactivation possible. La suppression, réservée à</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l’administrateur, est bloquée si des projets ou comptes</a:t>
            </a:r>
          </a:p>
        </p:txBody>
      </p:sp>
      <p:sp>
        <p:nvSpPr>
          <p:cNvPr id="28" name="TextBox 27"/>
          <p:cNvSpPr txBox="1"/>
          <p:nvPr/>
        </p:nvSpPr>
        <p:spPr>
          <a:xfrm>
            <a:off x="6502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sont liés.</a:t>
            </a:r>
          </a:p>
        </p:txBody>
      </p:sp>
      <p:sp>
        <p:nvSpPr>
          <p:cNvPr id="29" name="Rounded Rectangle 28"/>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Une fiche client sert de point de référence aux projets et à la facturation.</a:t>
            </a:r>
          </a:p>
        </p:txBody>
      </p:sp>
      <p:sp>
        <p:nvSpPr>
          <p:cNvPr id="31" name="TextBox 30"/>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ClientViewSet · ClientSerializer · forms.jsx</a:t>
            </a:r>
          </a:p>
        </p:txBody>
      </p:sp>
      <p:sp>
        <p:nvSpPr>
          <p:cNvPr id="32" name="TextBox 31"/>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03 / ADMINISTRATION</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Équipe : créer et maîtriser les comptes</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Parcours administrateur : Paramètres → Équipe.</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CRÉER UN COLLABORATEUR</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Renseigner l’identité, l’identifiant, le mot de passe, le</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rôle et le statut actif.</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RATTACHER LE CLIENT</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Un chef de projet client doit être lié à une entreprise</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cliente. Les autres rôles n’ont pas ce rattachement.</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GÉRER LE CYCLE DE VIE</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Modifier les informations, remplacer un mot de passe</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et désactiver un compte lorsque l’accès doit cesser.</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PRÉSERVER LES DROITS</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 superviseur et le client consultent les personnes</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autorisées. La création et la modification des comptes</a:t>
            </a:r>
          </a:p>
        </p:txBody>
      </p:sp>
      <p:sp>
        <p:nvSpPr>
          <p:cNvPr id="28" name="TextBox 27"/>
          <p:cNvSpPr txBox="1"/>
          <p:nvPr/>
        </p:nvSpPr>
        <p:spPr>
          <a:xfrm>
            <a:off x="6502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restent administratives.</a:t>
            </a:r>
          </a:p>
        </p:txBody>
      </p:sp>
      <p:sp>
        <p:nvSpPr>
          <p:cNvPr id="29" name="Rounded Rectangle 28"/>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Les techniciens disposent aussi d’un menu dédié pour leur dossier complet.</a:t>
            </a:r>
          </a:p>
        </p:txBody>
      </p:sp>
      <p:sp>
        <p:nvSpPr>
          <p:cNvPr id="31" name="TextBox 30"/>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UserViewSet · UserSerializer · forms.jsx</a:t>
            </a:r>
          </a:p>
        </p:txBody>
      </p:sp>
      <p:sp>
        <p:nvSpPr>
          <p:cNvPr id="32" name="TextBox 31"/>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03 / ADMINISTRATION</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Le dossier complet du technicien</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Centraliser les compétences, les pièces et les affectations.</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IDENTITÉ</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Nom, prénom, date de naissance, adresse, téléphone,</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email, photo et date d’affectation.</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COMPÉTENCES</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Poste ou spécialité, expérience professionnelle avec</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mise en forme et informations de certification.</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DOCUMENTS</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CV et plusieurs certificats en pièces jointes, avec</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consultation et téléchargement autorisés.</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GESTION</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Matricule généré automatiquement, recherche, filtre</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actif / désactivé et consultation des projets affectés.</a:t>
            </a:r>
          </a:p>
        </p:txBody>
      </p:sp>
      <p:sp>
        <p:nvSpPr>
          <p:cNvPr id="28" name="Rounded Rectangle 27"/>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L’administrateur modifie le dossier ; le superviseur peut consulter les documents.</a:t>
            </a:r>
          </a:p>
        </p:txBody>
      </p:sp>
      <p:sp>
        <p:nvSpPr>
          <p:cNvPr id="30" name="TextBox 29"/>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UserSerializer · UserViewSet · TechnicianPhoto.jsx · CertificateUploads.jsx</a:t>
            </a:r>
          </a:p>
        </p:txBody>
      </p:sp>
      <p:sp>
        <p:nvSpPr>
          <p:cNvPr id="31" name="TextBox 30"/>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04 / CV &amp; PHOTO</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Détecter l’expérience depuis un CV</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Une aide à la saisie intégrée à la fiche technicien.</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IMPORT DU DOCUMENT</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Sélectionner un CV PDF, JPG ou PNG, de 10 Mo</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maximum. Un CV enregistré peut aussi être relu.</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LECTURE DU TEXTE</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Lecture directe des PDF contenant du texte ; recours</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à l’OCR local Windows pour les images et pages</a:t>
            </a:r>
          </a:p>
        </p:txBody>
      </p:sp>
      <p:sp>
        <p:nvSpPr>
          <p:cNvPr id="18" name="TextBox 17"/>
          <p:cNvSpPr txBox="1"/>
          <p:nvPr/>
        </p:nvSpPr>
        <p:spPr>
          <a:xfrm>
            <a:off x="6502400" y="33741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scannées.</a:t>
            </a:r>
          </a:p>
        </p:txBody>
      </p:sp>
      <p:sp>
        <p:nvSpPr>
          <p:cNvPr id="19" name="Rounded Rectangle 18"/>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REPÉRAGE DE L’EXPÉRIENCE</a:t>
            </a:r>
          </a:p>
        </p:txBody>
      </p:sp>
      <p:sp>
        <p:nvSpPr>
          <p:cNvPr id="22" name="TextBox 21"/>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Recherche de rubriques en français ou en anglais et</a:t>
            </a:r>
          </a:p>
        </p:txBody>
      </p:sp>
      <p:sp>
        <p:nvSpPr>
          <p:cNvPr id="23" name="TextBox 22"/>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prise en compte de certaines mises en page à</a:t>
            </a:r>
          </a:p>
        </p:txBody>
      </p:sp>
      <p:sp>
        <p:nvSpPr>
          <p:cNvPr id="24" name="TextBox 23"/>
          <p:cNvSpPr txBox="1"/>
          <p:nvPr/>
        </p:nvSpPr>
        <p:spPr>
          <a:xfrm>
            <a:off x="787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colonnes.</a:t>
            </a:r>
          </a:p>
        </p:txBody>
      </p:sp>
      <p:sp>
        <p:nvSpPr>
          <p:cNvPr id="25" name="Rounded Rectangle 24"/>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RELECTURE HUMAINE</a:t>
            </a:r>
          </a:p>
        </p:txBody>
      </p:sp>
      <p:sp>
        <p:nvSpPr>
          <p:cNvPr id="28" name="TextBox 27"/>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L’expérience proposée est modifiable. Si la rubrique</a:t>
            </a:r>
          </a:p>
        </p:txBody>
      </p:sp>
      <p:sp>
        <p:nvSpPr>
          <p:cNvPr id="29" name="TextBox 28"/>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n’est pas reconnue, le texte extrait permet de choisir</a:t>
            </a:r>
          </a:p>
        </p:txBody>
      </p:sp>
      <p:sp>
        <p:nvSpPr>
          <p:cNvPr id="30" name="TextBox 29"/>
          <p:cNvSpPr txBox="1"/>
          <p:nvPr/>
        </p:nvSpPr>
        <p:spPr>
          <a:xfrm>
            <a:off x="6502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les passages utiles.</a:t>
            </a:r>
          </a:p>
        </p:txBody>
      </p:sp>
      <p:sp>
        <p:nvSpPr>
          <p:cNvPr id="31" name="Rounded Rectangle 30"/>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Le texte est proposé pour vérification avant enregistrement.</a:t>
            </a:r>
          </a:p>
        </p:txBody>
      </p:sp>
      <p:sp>
        <p:nvSpPr>
          <p:cNvPr id="33" name="TextBox 32"/>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eliteapp/cv.py · CVImport.jsx</a:t>
            </a:r>
          </a:p>
        </p:txBody>
      </p:sp>
      <p:sp>
        <p:nvSpPr>
          <p:cNvPr id="34" name="TextBox 33"/>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04 / CV &amp; PHOTO</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De l’import à une expérience exploitable</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Parcours administrateur : Techniciens → Ajouter ou Modifier.</a:t>
            </a:r>
          </a:p>
        </p:txBody>
      </p:sp>
      <p:sp>
        <p:nvSpPr>
          <p:cNvPr id="8" name="Rounded Rectangle 7"/>
          <p:cNvSpPr/>
          <p:nvPr/>
        </p:nvSpPr>
        <p:spPr>
          <a:xfrm>
            <a:off x="533400" y="2374900"/>
            <a:ext cx="206248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514600"/>
            <a:ext cx="179578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01</a:t>
            </a:r>
          </a:p>
        </p:txBody>
      </p:sp>
      <p:sp>
        <p:nvSpPr>
          <p:cNvPr id="10" name="TextBox 9"/>
          <p:cNvSpPr txBox="1"/>
          <p:nvPr/>
        </p:nvSpPr>
        <p:spPr>
          <a:xfrm>
            <a:off x="711200" y="2908300"/>
            <a:ext cx="179578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CHOISIR</a:t>
            </a:r>
          </a:p>
        </p:txBody>
      </p:sp>
      <p:sp>
        <p:nvSpPr>
          <p:cNvPr id="11" name="TextBox 10"/>
          <p:cNvSpPr txBox="1"/>
          <p:nvPr/>
        </p:nvSpPr>
        <p:spPr>
          <a:xfrm>
            <a:off x="711200" y="3213100"/>
            <a:ext cx="179578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CV local</a:t>
            </a:r>
          </a:p>
        </p:txBody>
      </p:sp>
      <p:sp>
        <p:nvSpPr>
          <p:cNvPr id="12" name="TextBox 11"/>
          <p:cNvSpPr txBox="1"/>
          <p:nvPr/>
        </p:nvSpPr>
        <p:spPr>
          <a:xfrm>
            <a:off x="711200" y="3543300"/>
            <a:ext cx="179578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PDF, JPG ou PNG</a:t>
            </a:r>
          </a:p>
        </p:txBody>
      </p:sp>
      <p:sp>
        <p:nvSpPr>
          <p:cNvPr id="13" name="TextBox 12"/>
          <p:cNvSpPr txBox="1"/>
          <p:nvPr/>
        </p:nvSpPr>
        <p:spPr>
          <a:xfrm>
            <a:off x="263398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14" name="Rounded Rectangle 13"/>
          <p:cNvSpPr/>
          <p:nvPr/>
        </p:nvSpPr>
        <p:spPr>
          <a:xfrm>
            <a:off x="2799080" y="2374900"/>
            <a:ext cx="206248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76880" y="2514600"/>
            <a:ext cx="179578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02</a:t>
            </a:r>
          </a:p>
        </p:txBody>
      </p:sp>
      <p:sp>
        <p:nvSpPr>
          <p:cNvPr id="16" name="TextBox 15"/>
          <p:cNvSpPr txBox="1"/>
          <p:nvPr/>
        </p:nvSpPr>
        <p:spPr>
          <a:xfrm>
            <a:off x="2976880" y="2908300"/>
            <a:ext cx="179578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EXTRAIRE</a:t>
            </a:r>
          </a:p>
        </p:txBody>
      </p:sp>
      <p:sp>
        <p:nvSpPr>
          <p:cNvPr id="17" name="TextBox 16"/>
          <p:cNvSpPr txBox="1"/>
          <p:nvPr/>
        </p:nvSpPr>
        <p:spPr>
          <a:xfrm>
            <a:off x="2976880" y="3213100"/>
            <a:ext cx="179578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Bouton dédié</a:t>
            </a:r>
          </a:p>
        </p:txBody>
      </p:sp>
      <p:sp>
        <p:nvSpPr>
          <p:cNvPr id="18" name="TextBox 17"/>
          <p:cNvSpPr txBox="1"/>
          <p:nvPr/>
        </p:nvSpPr>
        <p:spPr>
          <a:xfrm>
            <a:off x="2976880" y="3543300"/>
            <a:ext cx="179578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Lire l’expérience</a:t>
            </a:r>
          </a:p>
        </p:txBody>
      </p:sp>
      <p:sp>
        <p:nvSpPr>
          <p:cNvPr id="19" name="TextBox 18"/>
          <p:cNvSpPr txBox="1"/>
          <p:nvPr/>
        </p:nvSpPr>
        <p:spPr>
          <a:xfrm>
            <a:off x="489966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20" name="Rounded Rectangle 19"/>
          <p:cNvSpPr/>
          <p:nvPr/>
        </p:nvSpPr>
        <p:spPr>
          <a:xfrm>
            <a:off x="5064760" y="2374900"/>
            <a:ext cx="206248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2560" y="2514600"/>
            <a:ext cx="179578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03</a:t>
            </a:r>
          </a:p>
        </p:txBody>
      </p:sp>
      <p:sp>
        <p:nvSpPr>
          <p:cNvPr id="22" name="TextBox 21"/>
          <p:cNvSpPr txBox="1"/>
          <p:nvPr/>
        </p:nvSpPr>
        <p:spPr>
          <a:xfrm>
            <a:off x="5242560" y="2908300"/>
            <a:ext cx="179578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RELIRE</a:t>
            </a:r>
          </a:p>
        </p:txBody>
      </p:sp>
      <p:sp>
        <p:nvSpPr>
          <p:cNvPr id="23" name="TextBox 22"/>
          <p:cNvSpPr txBox="1"/>
          <p:nvPr/>
        </p:nvSpPr>
        <p:spPr>
          <a:xfrm>
            <a:off x="5242560" y="3213100"/>
            <a:ext cx="179578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Administrateur</a:t>
            </a:r>
          </a:p>
        </p:txBody>
      </p:sp>
      <p:sp>
        <p:nvSpPr>
          <p:cNvPr id="24" name="TextBox 23"/>
          <p:cNvSpPr txBox="1"/>
          <p:nvPr/>
        </p:nvSpPr>
        <p:spPr>
          <a:xfrm>
            <a:off x="5242560" y="3543300"/>
            <a:ext cx="179578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Vérifier et corriger</a:t>
            </a:r>
          </a:p>
        </p:txBody>
      </p:sp>
      <p:sp>
        <p:nvSpPr>
          <p:cNvPr id="25" name="TextBox 24"/>
          <p:cNvSpPr txBox="1"/>
          <p:nvPr/>
        </p:nvSpPr>
        <p:spPr>
          <a:xfrm>
            <a:off x="716534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26" name="Rounded Rectangle 25"/>
          <p:cNvSpPr/>
          <p:nvPr/>
        </p:nvSpPr>
        <p:spPr>
          <a:xfrm>
            <a:off x="7330440" y="2374900"/>
            <a:ext cx="206248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8240" y="2514600"/>
            <a:ext cx="179578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04</a:t>
            </a:r>
          </a:p>
        </p:txBody>
      </p:sp>
      <p:sp>
        <p:nvSpPr>
          <p:cNvPr id="28" name="TextBox 27"/>
          <p:cNvSpPr txBox="1"/>
          <p:nvPr/>
        </p:nvSpPr>
        <p:spPr>
          <a:xfrm>
            <a:off x="7508240" y="2908300"/>
            <a:ext cx="179578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METTRE EN FORME</a:t>
            </a:r>
          </a:p>
        </p:txBody>
      </p:sp>
      <p:sp>
        <p:nvSpPr>
          <p:cNvPr id="29" name="TextBox 28"/>
          <p:cNvSpPr txBox="1"/>
          <p:nvPr/>
        </p:nvSpPr>
        <p:spPr>
          <a:xfrm>
            <a:off x="7508240" y="3213100"/>
            <a:ext cx="179578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Éditeur intégré</a:t>
            </a:r>
          </a:p>
        </p:txBody>
      </p:sp>
      <p:sp>
        <p:nvSpPr>
          <p:cNvPr id="30" name="TextBox 29"/>
          <p:cNvSpPr txBox="1"/>
          <p:nvPr/>
        </p:nvSpPr>
        <p:spPr>
          <a:xfrm>
            <a:off x="7508240" y="3543300"/>
            <a:ext cx="179578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Paragraphes et listes</a:t>
            </a:r>
          </a:p>
        </p:txBody>
      </p:sp>
      <p:sp>
        <p:nvSpPr>
          <p:cNvPr id="31" name="TextBox 30"/>
          <p:cNvSpPr txBox="1"/>
          <p:nvPr/>
        </p:nvSpPr>
        <p:spPr>
          <a:xfrm>
            <a:off x="943102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32" name="Rounded Rectangle 31"/>
          <p:cNvSpPr/>
          <p:nvPr/>
        </p:nvSpPr>
        <p:spPr>
          <a:xfrm>
            <a:off x="9596120" y="2374900"/>
            <a:ext cx="206248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73920" y="2514600"/>
            <a:ext cx="179578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05</a:t>
            </a:r>
          </a:p>
        </p:txBody>
      </p:sp>
      <p:sp>
        <p:nvSpPr>
          <p:cNvPr id="34" name="TextBox 33"/>
          <p:cNvSpPr txBox="1"/>
          <p:nvPr/>
        </p:nvSpPr>
        <p:spPr>
          <a:xfrm>
            <a:off x="9773920" y="2908300"/>
            <a:ext cx="179578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ENREGISTRER</a:t>
            </a:r>
          </a:p>
        </p:txBody>
      </p:sp>
      <p:sp>
        <p:nvSpPr>
          <p:cNvPr id="35" name="TextBox 34"/>
          <p:cNvSpPr txBox="1"/>
          <p:nvPr/>
        </p:nvSpPr>
        <p:spPr>
          <a:xfrm>
            <a:off x="9773920" y="3213100"/>
            <a:ext cx="179578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Fiche technicien</a:t>
            </a:r>
          </a:p>
        </p:txBody>
      </p:sp>
      <p:sp>
        <p:nvSpPr>
          <p:cNvPr id="36" name="TextBox 35"/>
          <p:cNvSpPr txBox="1"/>
          <p:nvPr/>
        </p:nvSpPr>
        <p:spPr>
          <a:xfrm>
            <a:off x="9773920" y="3543300"/>
            <a:ext cx="179578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Sauvegarder le dossier</a:t>
            </a:r>
          </a:p>
        </p:txBody>
      </p:sp>
      <p:sp>
        <p:nvSpPr>
          <p:cNvPr id="37" name="Rounded Rectangle 36"/>
          <p:cNvSpPr/>
          <p:nvPr/>
        </p:nvSpPr>
        <p:spPr>
          <a:xfrm>
            <a:off x="533400" y="4203700"/>
            <a:ext cx="5410200" cy="1549400"/>
          </a:xfrm>
          <a:prstGeom prst="roundRect">
            <a:avLst>
              <a:gd name="adj" fmla="val 655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3400" y="4406900"/>
            <a:ext cx="38100" cy="11430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7400" y="43942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SI LE CHAMP EST VIDE</a:t>
            </a:r>
          </a:p>
        </p:txBody>
      </p:sp>
      <p:sp>
        <p:nvSpPr>
          <p:cNvPr id="40" name="TextBox 39"/>
          <p:cNvSpPr txBox="1"/>
          <p:nvPr/>
        </p:nvSpPr>
        <p:spPr>
          <a:xfrm>
            <a:off x="787400" y="47498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Une expérience reconnue remplit le champ.</a:t>
            </a:r>
          </a:p>
        </p:txBody>
      </p:sp>
      <p:sp>
        <p:nvSpPr>
          <p:cNvPr id="41" name="TextBox 40"/>
          <p:cNvSpPr txBox="1"/>
          <p:nvPr/>
        </p:nvSpPr>
        <p:spPr>
          <a:xfrm>
            <a:off x="787400" y="50017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L’administrateur relit le texte avant de sauvegarder.</a:t>
            </a:r>
          </a:p>
        </p:txBody>
      </p:sp>
      <p:sp>
        <p:nvSpPr>
          <p:cNvPr id="42" name="Rounded Rectangle 41"/>
          <p:cNvSpPr/>
          <p:nvPr/>
        </p:nvSpPr>
        <p:spPr>
          <a:xfrm>
            <a:off x="6248400" y="4203700"/>
            <a:ext cx="5410200" cy="1549400"/>
          </a:xfrm>
          <a:prstGeom prst="roundRect">
            <a:avLst>
              <a:gd name="adj" fmla="val 655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48400" y="4406900"/>
            <a:ext cx="38100" cy="11430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02400" y="43942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SI UNE EXPÉRIENCE EXISTE</a:t>
            </a:r>
          </a:p>
        </p:txBody>
      </p:sp>
      <p:sp>
        <p:nvSpPr>
          <p:cNvPr id="45" name="TextBox 44"/>
          <p:cNvSpPr txBox="1"/>
          <p:nvPr/>
        </p:nvSpPr>
        <p:spPr>
          <a:xfrm>
            <a:off x="6502400" y="47498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Un aperçu est proposé. Le remplacement du contenu</a:t>
            </a:r>
          </a:p>
        </p:txBody>
      </p:sp>
      <p:sp>
        <p:nvSpPr>
          <p:cNvPr id="46" name="TextBox 45"/>
          <p:cNvSpPr txBox="1"/>
          <p:nvPr/>
        </p:nvSpPr>
        <p:spPr>
          <a:xfrm>
            <a:off x="6502400" y="50017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se fait par une action explicite de l’administrateur.</a:t>
            </a:r>
          </a:p>
        </p:txBody>
      </p:sp>
      <p:sp>
        <p:nvSpPr>
          <p:cNvPr id="47" name="Rounded Rectangle 46"/>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 Extraire » prépare le contenu ; « Enregistrer » sauvegarde le CV et la fiche.</a:t>
            </a:r>
          </a:p>
        </p:txBody>
      </p:sp>
      <p:sp>
        <p:nvSpPr>
          <p:cNvPr id="49" name="TextBox 48"/>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CVImport.jsx · ExperienceEditor.jsx · UserSerializer</a:t>
            </a:r>
          </a:p>
        </p:txBody>
      </p:sp>
      <p:sp>
        <p:nvSpPr>
          <p:cNvPr id="50" name="TextBox 49"/>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04 / CV &amp; PHOTO</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Extraire la photo du CV</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Un aperçu visuel pour enrichir rapidement le profil.</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ACTION UTILISATEUR</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Cliquer sur « Utiliser la photo du CV » depuis un CV</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sélectionné ou déjà enregistré.</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SÉLECTION DE L’IMAGE</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 système recherche une image candidate selon sa</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taille, ses proportions et sa place dans le document.</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APERÇU ET SAUVEGARDE</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L’image proposée apparaît dans la fiche. Vérifier qu’il</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s’agit bien du portrait, puis cliquer sur Enregistrer.</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PHOTO MANUELLE PRIORITAIRE</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Une photo peut être importée séparément : PNG,</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WebP, JPG/JPEG ou AVIF, de 5 Mo maximum.</a:t>
            </a:r>
          </a:p>
        </p:txBody>
      </p:sp>
      <p:sp>
        <p:nvSpPr>
          <p:cNvPr id="28" name="Rounded Rectangle 27"/>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La sélection est heuristique : un logo ou une page scannée peut nécessiter un remplacement.</a:t>
            </a:r>
          </a:p>
        </p:txBody>
      </p:sp>
      <p:sp>
        <p:nvSpPr>
          <p:cNvPr id="30" name="TextBox 29"/>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extract_cv_photo · save_photo_from_cv · CVImport.jsx · TechnicianPhoto.jsx</a:t>
            </a:r>
          </a:p>
        </p:txBody>
      </p:sp>
      <p:sp>
        <p:nvSpPr>
          <p:cNvPr id="31" name="TextBox 30"/>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04 / CV &amp; PHOTO</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CV : qualité, confidentialité et contrôle</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Le dossier reste vérifiable par l’équipe autorisée.</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QUALITÉ DU RÉSULTAT</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La netteté du scan, les colonnes et les titres du CV</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influencent l’extraction. La saisie manuelle reste</a:t>
            </a:r>
          </a:p>
        </p:txBody>
      </p:sp>
      <p:sp>
        <p:nvSpPr>
          <p:cNvPr id="13" name="TextBox 12"/>
          <p:cNvSpPr txBox="1"/>
          <p:nvPr/>
        </p:nvSpPr>
        <p:spPr>
          <a:xfrm>
            <a:off x="787400" y="33741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disponible.</a:t>
            </a:r>
          </a:p>
        </p:txBody>
      </p:sp>
      <p:sp>
        <p:nvSpPr>
          <p:cNvPr id="14" name="Rounded Rectangle 13"/>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TRAITEMENT LOCAL</a:t>
            </a:r>
          </a:p>
        </p:txBody>
      </p:sp>
      <p:sp>
        <p:nvSpPr>
          <p:cNvPr id="17" name="TextBox 16"/>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 texte et la photo sont traités localement. Le</a:t>
            </a:r>
          </a:p>
        </p:txBody>
      </p:sp>
      <p:sp>
        <p:nvSpPr>
          <p:cNvPr id="18" name="TextBox 17"/>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parcours d’extraction n’envoie pas les CV à un service</a:t>
            </a:r>
          </a:p>
        </p:txBody>
      </p:sp>
      <p:sp>
        <p:nvSpPr>
          <p:cNvPr id="19" name="TextBox 18"/>
          <p:cNvSpPr txBox="1"/>
          <p:nvPr/>
        </p:nvSpPr>
        <p:spPr>
          <a:xfrm>
            <a:off x="6502400" y="33741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externe.</a:t>
            </a:r>
          </a:p>
        </p:txBody>
      </p:sp>
      <p:sp>
        <p:nvSpPr>
          <p:cNvPr id="20" name="Rounded Rectangle 19"/>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ACCÈS AUX DOCUMENTS</a:t>
            </a:r>
          </a:p>
        </p:txBody>
      </p:sp>
      <p:sp>
        <p:nvSpPr>
          <p:cNvPr id="23" name="TextBox 22"/>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Extraction réservée à l’administrateur. CV, photos et</a:t>
            </a:r>
          </a:p>
        </p:txBody>
      </p:sp>
      <p:sp>
        <p:nvSpPr>
          <p:cNvPr id="24" name="TextBox 23"/>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certificats consultables par administrateur et</a:t>
            </a:r>
          </a:p>
        </p:txBody>
      </p:sp>
      <p:sp>
        <p:nvSpPr>
          <p:cNvPr id="25" name="TextBox 24"/>
          <p:cNvSpPr txBox="1"/>
          <p:nvPr/>
        </p:nvSpPr>
        <p:spPr>
          <a:xfrm>
            <a:off x="787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superviseur.</a:t>
            </a:r>
          </a:p>
        </p:txBody>
      </p:sp>
      <p:sp>
        <p:nvSpPr>
          <p:cNvPr id="26" name="Rounded Rectangle 25"/>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CONTRAINTES ACTUELLES</a:t>
            </a:r>
          </a:p>
        </p:txBody>
      </p:sp>
      <p:sp>
        <p:nvSpPr>
          <p:cNvPr id="29" name="TextBox 28"/>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CV : 10 Mo ; pas de plafond fixe de pages dans le</a:t>
            </a:r>
          </a:p>
        </p:txBody>
      </p:sp>
      <p:sp>
        <p:nvSpPr>
          <p:cNvPr id="30" name="TextBox 29"/>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code actuel. L’OCR nécessite Windows et peut</a:t>
            </a:r>
          </a:p>
        </p:txBody>
      </p:sp>
      <p:sp>
        <p:nvSpPr>
          <p:cNvPr id="31" name="TextBox 30"/>
          <p:cNvSpPr txBox="1"/>
          <p:nvPr/>
        </p:nvSpPr>
        <p:spPr>
          <a:xfrm>
            <a:off x="6502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expirer sur un document long.</a:t>
            </a:r>
          </a:p>
        </p:txBody>
      </p:sp>
      <p:sp>
        <p:nvSpPr>
          <p:cNvPr id="32" name="Rounded Rectangle 31"/>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Toujours vérifier le texte et l’image avant de finaliser le dossier.</a:t>
            </a:r>
          </a:p>
        </p:txBody>
      </p:sp>
      <p:sp>
        <p:nvSpPr>
          <p:cNvPr id="34" name="TextBox 33"/>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cv.py · CVImport.jsx · test_cv.py</a:t>
            </a:r>
          </a:p>
        </p:txBody>
      </p:sp>
      <p:sp>
        <p:nvSpPr>
          <p:cNvPr id="35" name="TextBox 34"/>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05 / PROJETS &amp; ÉQUIPE</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Préparer les projets et les affectations</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Administrateur et superviseur disposent des fonctions d’organisation.</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IDENTIFIER LE PROJET</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Nom du projet, client, site industriel, description, bon</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de commande et nom du chef de projet client.</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AFFECTER LES TECHNICIENS</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Rechercher et sélectionner un ou plusieurs</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techniciens actifs pour constituer l’équipe du projet.</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PARAMÉTRER LES TARIFS</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Tarif client horaire, forfait client férié, coût technicien</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horaire et forfait technicien férié.</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PRÉPARER LA VALIDATION</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 nom du responsable ne crée pas un compte.</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L’administrateur configure séparément l’accès client</a:t>
            </a:r>
          </a:p>
        </p:txBody>
      </p:sp>
      <p:sp>
        <p:nvSpPr>
          <p:cNvPr id="28" name="TextBox 27"/>
          <p:cNvSpPr txBox="1"/>
          <p:nvPr/>
        </p:nvSpPr>
        <p:spPr>
          <a:xfrm>
            <a:off x="6502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du projet.</a:t>
            </a:r>
          </a:p>
        </p:txBody>
      </p:sp>
      <p:sp>
        <p:nvSpPr>
          <p:cNvPr id="29" name="Rounded Rectangle 28"/>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Un client actif et une affectation valide sont nécessaires pour les nouveaux pointages.</a:t>
            </a:r>
          </a:p>
        </p:txBody>
      </p:sp>
      <p:sp>
        <p:nvSpPr>
          <p:cNvPr id="31" name="TextBox 30"/>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ProjectSerializer · ProjectViewSet · forms.jsx · ProjectAccess.jsx</a:t>
            </a:r>
          </a:p>
        </p:txBody>
      </p:sp>
      <p:sp>
        <p:nvSpPr>
          <p:cNvPr id="32" name="TextBox 31"/>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05 / PROJETS &amp; ÉQUIPE</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L’espace du superviseur interne</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Coordonner le travail opérationnel et suivre les équipes.</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ORGANISER</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Créer ou modifier les clients et projets, renseigner les</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informations commerciales et gérer les affectations.</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CONSULTER LES DOSSIERS</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Accéder aux fiches techniciens, aux CV, aux photos,</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aux certificats et à la liste de l’équipe.</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SUIVRE LES INTERVENTIONS</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Consulter les pointages, les projets actifs et les</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indicateurs opérationnels.</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CADRE DES AUTORISATIONS</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La gestion des comptes, les accès client, la</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facturation, les encaissements et le calendrier restent</a:t>
            </a:r>
          </a:p>
        </p:txBody>
      </p:sp>
      <p:sp>
        <p:nvSpPr>
          <p:cNvPr id="28" name="TextBox 27"/>
          <p:cNvSpPr txBox="1"/>
          <p:nvPr/>
        </p:nvSpPr>
        <p:spPr>
          <a:xfrm>
            <a:off x="6502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réservés à l’administrateur.</a:t>
            </a:r>
          </a:p>
        </p:txBody>
      </p:sp>
      <p:sp>
        <p:nvSpPr>
          <p:cNvPr id="29" name="Rounded Rectangle 28"/>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Le superviseur prépare et suit ; le responsable client décide de la validation.</a:t>
            </a:r>
          </a:p>
        </p:txBody>
      </p:sp>
      <p:sp>
        <p:nvSpPr>
          <p:cNvPr id="31" name="TextBox 30"/>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views.py · access.py · App.jsx</a:t>
            </a:r>
          </a:p>
        </p:txBody>
      </p:sp>
      <p:sp>
        <p:nvSpPr>
          <p:cNvPr id="32" name="TextBox 31"/>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06 / ESPACE TECHNICIEN</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Un accès centré sur le terrain</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Connexion habituelle ou page dédiée /tech/login.</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MES PROJETS</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Consulter les projets affectés et retrouver les projets</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de son historique de pointages.</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MES HEURES</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Choisir un projet actif, une date d’intervention, un</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nombre d’heures et une description des travaux.</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MON SUIVI</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Consulter le détail de ses pointages, les motifs de</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refus et les actions disponibles pour corriger ou</a:t>
            </a:r>
          </a:p>
        </p:txBody>
      </p:sp>
      <p:sp>
        <p:nvSpPr>
          <p:cNvPr id="23" name="TextBox 22"/>
          <p:cNvSpPr txBox="1"/>
          <p:nvPr/>
        </p:nvSpPr>
        <p:spPr>
          <a:xfrm>
            <a:off x="787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soumettre.</a:t>
            </a:r>
          </a:p>
        </p:txBody>
      </p:sp>
      <p:sp>
        <p:nvSpPr>
          <p:cNvPr id="24" name="Rounded Rectangle 23"/>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MES GAINS</a:t>
            </a:r>
          </a:p>
        </p:txBody>
      </p:sp>
      <p:sp>
        <p:nvSpPr>
          <p:cNvPr id="27" name="TextBox 26"/>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Consulter les heures validées ou facturées et les</a:t>
            </a:r>
          </a:p>
        </p:txBody>
      </p:sp>
      <p:sp>
        <p:nvSpPr>
          <p:cNvPr id="28" name="TextBox 27"/>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montants calculés pour soi, projet par projet.</a:t>
            </a:r>
          </a:p>
        </p:txBody>
      </p:sp>
      <p:sp>
        <p:nvSpPr>
          <p:cNvPr id="29" name="Rounded Rectangle 28"/>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Le technicien accède à ses propres pointages et à ses propres gains.</a:t>
            </a:r>
          </a:p>
        </p:txBody>
      </p:sp>
      <p:sp>
        <p:nvSpPr>
          <p:cNvPr id="31" name="TextBox 30"/>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App.jsx · forms.jsx · entries_for · projects_for</a:t>
            </a:r>
          </a:p>
        </p:txBody>
      </p:sp>
      <p:sp>
        <p:nvSpPr>
          <p:cNvPr id="32" name="TextBox 31"/>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06 / ESPACE TECHNICIEN</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Le cycle d’un pointage</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Un état clair détermine les actions possibles.</a:t>
            </a:r>
          </a:p>
        </p:txBody>
      </p:sp>
      <p:sp>
        <p:nvSpPr>
          <p:cNvPr id="8" name="Rounded Rectangle 7"/>
          <p:cNvSpPr/>
          <p:nvPr/>
        </p:nvSpPr>
        <p:spPr>
          <a:xfrm>
            <a:off x="533400" y="2374900"/>
            <a:ext cx="262890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514600"/>
            <a:ext cx="236220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01</a:t>
            </a:r>
          </a:p>
        </p:txBody>
      </p:sp>
      <p:sp>
        <p:nvSpPr>
          <p:cNvPr id="10" name="TextBox 9"/>
          <p:cNvSpPr txBox="1"/>
          <p:nvPr/>
        </p:nvSpPr>
        <p:spPr>
          <a:xfrm>
            <a:off x="711200" y="2908300"/>
            <a:ext cx="236220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BROUILLON</a:t>
            </a:r>
          </a:p>
        </p:txBody>
      </p:sp>
      <p:sp>
        <p:nvSpPr>
          <p:cNvPr id="11" name="TextBox 10"/>
          <p:cNvSpPr txBox="1"/>
          <p:nvPr/>
        </p:nvSpPr>
        <p:spPr>
          <a:xfrm>
            <a:off x="711200" y="3213100"/>
            <a:ext cx="236220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Technicien</a:t>
            </a:r>
          </a:p>
        </p:txBody>
      </p:sp>
      <p:sp>
        <p:nvSpPr>
          <p:cNvPr id="12" name="TextBox 11"/>
          <p:cNvSpPr txBox="1"/>
          <p:nvPr/>
        </p:nvSpPr>
        <p:spPr>
          <a:xfrm>
            <a:off x="711200" y="3543300"/>
            <a:ext cx="236220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Saisir et corriger</a:t>
            </a:r>
          </a:p>
        </p:txBody>
      </p:sp>
      <p:sp>
        <p:nvSpPr>
          <p:cNvPr id="13" name="TextBox 12"/>
          <p:cNvSpPr txBox="1"/>
          <p:nvPr/>
        </p:nvSpPr>
        <p:spPr>
          <a:xfrm>
            <a:off x="320040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14" name="Rounded Rectangle 13"/>
          <p:cNvSpPr/>
          <p:nvPr/>
        </p:nvSpPr>
        <p:spPr>
          <a:xfrm>
            <a:off x="3365500" y="2374900"/>
            <a:ext cx="262890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3300" y="2514600"/>
            <a:ext cx="236220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02</a:t>
            </a:r>
          </a:p>
        </p:txBody>
      </p:sp>
      <p:sp>
        <p:nvSpPr>
          <p:cNvPr id="16" name="TextBox 15"/>
          <p:cNvSpPr txBox="1"/>
          <p:nvPr/>
        </p:nvSpPr>
        <p:spPr>
          <a:xfrm>
            <a:off x="3543300" y="2908300"/>
            <a:ext cx="236220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SOUMIS</a:t>
            </a:r>
          </a:p>
        </p:txBody>
      </p:sp>
      <p:sp>
        <p:nvSpPr>
          <p:cNvPr id="17" name="TextBox 16"/>
          <p:cNvSpPr txBox="1"/>
          <p:nvPr/>
        </p:nvSpPr>
        <p:spPr>
          <a:xfrm>
            <a:off x="3543300" y="3213100"/>
            <a:ext cx="236220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Technicien</a:t>
            </a:r>
          </a:p>
        </p:txBody>
      </p:sp>
      <p:sp>
        <p:nvSpPr>
          <p:cNvPr id="18" name="TextBox 17"/>
          <p:cNvSpPr txBox="1"/>
          <p:nvPr/>
        </p:nvSpPr>
        <p:spPr>
          <a:xfrm>
            <a:off x="3543300" y="3543300"/>
            <a:ext cx="236220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Transmettre au client</a:t>
            </a:r>
          </a:p>
        </p:txBody>
      </p:sp>
      <p:sp>
        <p:nvSpPr>
          <p:cNvPr id="19" name="TextBox 18"/>
          <p:cNvSpPr txBox="1"/>
          <p:nvPr/>
        </p:nvSpPr>
        <p:spPr>
          <a:xfrm>
            <a:off x="603250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20" name="Rounded Rectangle 19"/>
          <p:cNvSpPr/>
          <p:nvPr/>
        </p:nvSpPr>
        <p:spPr>
          <a:xfrm>
            <a:off x="6197600" y="2374900"/>
            <a:ext cx="262890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5400" y="2514600"/>
            <a:ext cx="236220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03</a:t>
            </a:r>
          </a:p>
        </p:txBody>
      </p:sp>
      <p:sp>
        <p:nvSpPr>
          <p:cNvPr id="22" name="TextBox 21"/>
          <p:cNvSpPr txBox="1"/>
          <p:nvPr/>
        </p:nvSpPr>
        <p:spPr>
          <a:xfrm>
            <a:off x="6375400" y="2908300"/>
            <a:ext cx="236220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VALIDÉ</a:t>
            </a:r>
          </a:p>
        </p:txBody>
      </p:sp>
      <p:sp>
        <p:nvSpPr>
          <p:cNvPr id="23" name="TextBox 22"/>
          <p:cNvSpPr txBox="1"/>
          <p:nvPr/>
        </p:nvSpPr>
        <p:spPr>
          <a:xfrm>
            <a:off x="6375400" y="3213100"/>
            <a:ext cx="236220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Responsable client</a:t>
            </a:r>
          </a:p>
        </p:txBody>
      </p:sp>
      <p:sp>
        <p:nvSpPr>
          <p:cNvPr id="24" name="TextBox 23"/>
          <p:cNvSpPr txBox="1"/>
          <p:nvPr/>
        </p:nvSpPr>
        <p:spPr>
          <a:xfrm>
            <a:off x="6375400" y="3543300"/>
            <a:ext cx="236220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Accepter les heures</a:t>
            </a:r>
          </a:p>
        </p:txBody>
      </p:sp>
      <p:sp>
        <p:nvSpPr>
          <p:cNvPr id="25" name="TextBox 24"/>
          <p:cNvSpPr txBox="1"/>
          <p:nvPr/>
        </p:nvSpPr>
        <p:spPr>
          <a:xfrm>
            <a:off x="886460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26" name="Rounded Rectangle 25"/>
          <p:cNvSpPr/>
          <p:nvPr/>
        </p:nvSpPr>
        <p:spPr>
          <a:xfrm>
            <a:off x="9029700" y="2374900"/>
            <a:ext cx="262890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07500" y="2514600"/>
            <a:ext cx="236220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04</a:t>
            </a:r>
          </a:p>
        </p:txBody>
      </p:sp>
      <p:sp>
        <p:nvSpPr>
          <p:cNvPr id="28" name="TextBox 27"/>
          <p:cNvSpPr txBox="1"/>
          <p:nvPr/>
        </p:nvSpPr>
        <p:spPr>
          <a:xfrm>
            <a:off x="9207500" y="2908300"/>
            <a:ext cx="236220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FACTURÉ</a:t>
            </a:r>
          </a:p>
        </p:txBody>
      </p:sp>
      <p:sp>
        <p:nvSpPr>
          <p:cNvPr id="29" name="TextBox 28"/>
          <p:cNvSpPr txBox="1"/>
          <p:nvPr/>
        </p:nvSpPr>
        <p:spPr>
          <a:xfrm>
            <a:off x="9207500" y="3213100"/>
            <a:ext cx="236220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Administrateur</a:t>
            </a:r>
          </a:p>
        </p:txBody>
      </p:sp>
      <p:sp>
        <p:nvSpPr>
          <p:cNvPr id="30" name="TextBox 29"/>
          <p:cNvSpPr txBox="1"/>
          <p:nvPr/>
        </p:nvSpPr>
        <p:spPr>
          <a:xfrm>
            <a:off x="9207500" y="3543300"/>
            <a:ext cx="236220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Intégrer à une facture</a:t>
            </a:r>
          </a:p>
        </p:txBody>
      </p:sp>
      <p:sp>
        <p:nvSpPr>
          <p:cNvPr id="31" name="Rounded Rectangle 30"/>
          <p:cNvSpPr/>
          <p:nvPr/>
        </p:nvSpPr>
        <p:spPr>
          <a:xfrm>
            <a:off x="533400" y="4203700"/>
            <a:ext cx="5410200" cy="1549400"/>
          </a:xfrm>
          <a:prstGeom prst="roundRect">
            <a:avLst>
              <a:gd name="adj" fmla="val 655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33400" y="4406900"/>
            <a:ext cx="38100" cy="11430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7400" y="43942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EN CAS DE REFUS</a:t>
            </a:r>
          </a:p>
        </p:txBody>
      </p:sp>
      <p:sp>
        <p:nvSpPr>
          <p:cNvPr id="34" name="TextBox 33"/>
          <p:cNvSpPr txBox="1"/>
          <p:nvPr/>
        </p:nvSpPr>
        <p:spPr>
          <a:xfrm>
            <a:off x="787400" y="47498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 client renseigne un motif. Le technicien corrige le</a:t>
            </a:r>
          </a:p>
        </p:txBody>
      </p:sp>
      <p:sp>
        <p:nvSpPr>
          <p:cNvPr id="35" name="TextBox 34"/>
          <p:cNvSpPr txBox="1"/>
          <p:nvPr/>
        </p:nvSpPr>
        <p:spPr>
          <a:xfrm>
            <a:off x="787400" y="50017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pointage refusé puis le soumet à nouveau.</a:t>
            </a:r>
          </a:p>
        </p:txBody>
      </p:sp>
      <p:sp>
        <p:nvSpPr>
          <p:cNvPr id="36" name="Rounded Rectangle 35"/>
          <p:cNvSpPr/>
          <p:nvPr/>
        </p:nvSpPr>
        <p:spPr>
          <a:xfrm>
            <a:off x="6248400" y="4203700"/>
            <a:ext cx="5410200" cy="1549400"/>
          </a:xfrm>
          <a:prstGeom prst="roundRect">
            <a:avLst>
              <a:gd name="adj" fmla="val 655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48400" y="4406900"/>
            <a:ext cx="38100" cy="11430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02400" y="43942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CONTRÔLES DE SAISIE</a:t>
            </a:r>
          </a:p>
        </p:txBody>
      </p:sp>
      <p:sp>
        <p:nvSpPr>
          <p:cNvPr id="39" name="TextBox 38"/>
          <p:cNvSpPr txBox="1"/>
          <p:nvPr/>
        </p:nvSpPr>
        <p:spPr>
          <a:xfrm>
            <a:off x="6502400" y="47498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Projet actif et affectation vérifiés ; dates futures et</a:t>
            </a:r>
          </a:p>
        </p:txBody>
      </p:sp>
      <p:sp>
        <p:nvSpPr>
          <p:cNvPr id="40" name="TextBox 39"/>
          <p:cNvSpPr txBox="1"/>
          <p:nvPr/>
        </p:nvSpPr>
        <p:spPr>
          <a:xfrm>
            <a:off x="6502400" y="50017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chevauchements refusés ; durée contrôlée par le</a:t>
            </a:r>
          </a:p>
        </p:txBody>
      </p:sp>
      <p:sp>
        <p:nvSpPr>
          <p:cNvPr id="41" name="TextBox 40"/>
          <p:cNvSpPr txBox="1"/>
          <p:nvPr/>
        </p:nvSpPr>
        <p:spPr>
          <a:xfrm>
            <a:off x="6502400" y="52537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serveur.</a:t>
            </a:r>
          </a:p>
        </p:txBody>
      </p:sp>
      <p:sp>
        <p:nvSpPr>
          <p:cNvPr id="42" name="Rounded Rectangle 41"/>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Un pointage soumis, validé ou facturé est verrouillé à la modification.</a:t>
            </a:r>
          </a:p>
        </p:txBody>
      </p:sp>
      <p:sp>
        <p:nvSpPr>
          <p:cNvPr id="44" name="TextBox 43"/>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TimeEntrySerializer · transition_entry · TimeEntryEvent</a:t>
            </a:r>
          </a:p>
        </p:txBody>
      </p:sp>
      <p:sp>
        <p:nvSpPr>
          <p:cNvPr id="45" name="TextBox 44"/>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06 / ESPACE TECHNICIEN</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Les gains du technicien</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Le menu « Paiements » présente une estimation calculée à partir de l’activité validée.</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PÉRIMÈTRE PERSONNEL</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Seules les heures validées ou facturées du technicien</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connecté sont prises en compte.</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CALCUL HORS JOURS FÉRIÉS</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Les heures retenues sont multipliées par le tarif</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technicien configuré pour le projet.</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CALCUL DES JOURS FÉRIÉS</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Un forfait technicien est appliqué une fois par</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technicien, date fériée et projet dans le calcul des</a:t>
            </a:r>
          </a:p>
        </p:txBody>
      </p:sp>
      <p:sp>
        <p:nvSpPr>
          <p:cNvPr id="23" name="TextBox 22"/>
          <p:cNvSpPr txBox="1"/>
          <p:nvPr/>
        </p:nvSpPr>
        <p:spPr>
          <a:xfrm>
            <a:off x="787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gains.</a:t>
            </a:r>
          </a:p>
        </p:txBody>
      </p:sp>
      <p:sp>
        <p:nvSpPr>
          <p:cNvPr id="24" name="Rounded Rectangle 23"/>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INFORMATION À INTERPRÉTER</a:t>
            </a:r>
          </a:p>
        </p:txBody>
      </p:sp>
      <p:sp>
        <p:nvSpPr>
          <p:cNvPr id="27" name="TextBox 26"/>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 montant affiché représente des gains calculés.</a:t>
            </a:r>
          </a:p>
        </p:txBody>
      </p:sp>
      <p:sp>
        <p:nvSpPr>
          <p:cNvPr id="28" name="TextBox 27"/>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Aucun statut de versement réel au technicien n’est</a:t>
            </a:r>
          </a:p>
        </p:txBody>
      </p:sp>
      <p:sp>
        <p:nvSpPr>
          <p:cNvPr id="29" name="TextBox 28"/>
          <p:cNvSpPr txBox="1"/>
          <p:nvPr/>
        </p:nvSpPr>
        <p:spPr>
          <a:xfrm>
            <a:off x="6502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enregistré par ce module.</a:t>
            </a:r>
          </a:p>
        </p:txBody>
      </p:sp>
      <p:sp>
        <p:nvSpPr>
          <p:cNvPr id="30" name="Rounded Rectangle 29"/>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Ces montants ne donnent pas accès aux factures ni aux encaissements du client.</a:t>
            </a:r>
          </a:p>
        </p:txBody>
      </p:sp>
      <p:sp>
        <p:nvSpPr>
          <p:cNvPr id="32" name="TextBox 31"/>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ProjectViewSet.earnings · ProjectSerializer.get_technician_labor_cost</a:t>
            </a:r>
          </a:p>
        </p:txBody>
      </p:sp>
      <p:sp>
        <p:nvSpPr>
          <p:cNvPr id="33" name="TextBox 32"/>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07 / ESPACE CLIENT</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Deux modes d’accès au périmètre client</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Le rôle reste « Chef de projet client » ; le périmètre dépend du compte.</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COMPTE RESPONSABLE CLIENT</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Connexion habituelle. Consultation des seuls projets</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attribués au compte, au sein de son entreprise cliente.</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COMPTE DÉDIÉ AU PROJET</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Connexion via /project/login avec un identifiant créé</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par l’administrateur. Accès limité au projet associé.</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DONNÉES CONSULTABLES</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Projets autorisés, pointages hors brouillons,</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informations limitées sur les techniciens du périmètre.</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DONNÉES NON EXPOSÉES</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CV, photos et informations privées des techniciens ;</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tarifs internes, tarifs client, factures et paiements</a:t>
            </a:r>
          </a:p>
        </p:txBody>
      </p:sp>
      <p:sp>
        <p:nvSpPr>
          <p:cNvPr id="28" name="TextBox 27"/>
          <p:cNvSpPr txBox="1"/>
          <p:nvPr/>
        </p:nvSpPr>
        <p:spPr>
          <a:xfrm>
            <a:off x="6502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clients.</a:t>
            </a:r>
          </a:p>
        </p:txBody>
      </p:sp>
      <p:sp>
        <p:nvSpPr>
          <p:cNvPr id="29" name="Rounded Rectangle 28"/>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Un même client peut avoir plusieurs projets sans que tous ses comptes voient tout.</a:t>
            </a:r>
          </a:p>
        </p:txBody>
      </p:sp>
      <p:sp>
        <p:nvSpPr>
          <p:cNvPr id="31" name="TextBox 30"/>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projects_for · entries_for · LoginView · App.jsx</a:t>
            </a:r>
          </a:p>
        </p:txBody>
      </p:sp>
      <p:sp>
        <p:nvSpPr>
          <p:cNvPr id="32" name="TextBox 31"/>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07 / ESPACE CLIENT</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Valider ou refuser les heures</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La décision client structure le passage vers la facturation.</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CONSULTER</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Ouvrir les pointages soumis du projet autorisé et</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examiner le technicien, la date, la durée et les</a:t>
            </a:r>
          </a:p>
        </p:txBody>
      </p:sp>
      <p:sp>
        <p:nvSpPr>
          <p:cNvPr id="13" name="TextBox 12"/>
          <p:cNvSpPr txBox="1"/>
          <p:nvPr/>
        </p:nvSpPr>
        <p:spPr>
          <a:xfrm>
            <a:off x="787400" y="33741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travaux.</a:t>
            </a:r>
          </a:p>
        </p:txBody>
      </p:sp>
      <p:sp>
        <p:nvSpPr>
          <p:cNvPr id="14" name="Rounded Rectangle 13"/>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VALIDER</a:t>
            </a:r>
          </a:p>
        </p:txBody>
      </p:sp>
      <p:sp>
        <p:nvSpPr>
          <p:cNvPr id="17" name="TextBox 16"/>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Accepter le pointage lorsqu’il correspond à</a:t>
            </a:r>
          </a:p>
        </p:txBody>
      </p:sp>
      <p:sp>
        <p:nvSpPr>
          <p:cNvPr id="18" name="TextBox 17"/>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l’intervention réalisée. Les heures deviennent éligibles</a:t>
            </a:r>
          </a:p>
        </p:txBody>
      </p:sp>
      <p:sp>
        <p:nvSpPr>
          <p:cNvPr id="19" name="TextBox 18"/>
          <p:cNvSpPr txBox="1"/>
          <p:nvPr/>
        </p:nvSpPr>
        <p:spPr>
          <a:xfrm>
            <a:off x="6502400" y="33741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à la facturation.</a:t>
            </a:r>
          </a:p>
        </p:txBody>
      </p:sp>
      <p:sp>
        <p:nvSpPr>
          <p:cNvPr id="20" name="Rounded Rectangle 19"/>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REFUSER AVEC UN MOTIF</a:t>
            </a:r>
          </a:p>
        </p:txBody>
      </p:sp>
      <p:sp>
        <p:nvSpPr>
          <p:cNvPr id="23" name="TextBox 22"/>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Préciser ce qui doit être corrigé. Le pointage retourne</a:t>
            </a:r>
          </a:p>
        </p:txBody>
      </p:sp>
      <p:sp>
        <p:nvSpPr>
          <p:cNvPr id="24" name="TextBox 23"/>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au technicien dans l’état Refusé.</a:t>
            </a:r>
          </a:p>
        </p:txBody>
      </p:sp>
      <p:sp>
        <p:nvSpPr>
          <p:cNvPr id="25" name="Rounded Rectangle 24"/>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REPRENDRE LE SUIVI</a:t>
            </a:r>
          </a:p>
        </p:txBody>
      </p:sp>
      <p:sp>
        <p:nvSpPr>
          <p:cNvPr id="28" name="TextBox 27"/>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Après correction et nouvelle soumission, le</a:t>
            </a:r>
          </a:p>
        </p:txBody>
      </p:sp>
      <p:sp>
        <p:nvSpPr>
          <p:cNvPr id="29" name="TextBox 28"/>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responsable client peut réexaminer le pointage.</a:t>
            </a:r>
          </a:p>
        </p:txBody>
      </p:sp>
      <p:sp>
        <p:nvSpPr>
          <p:cNvPr id="30" name="Rounded Rectangle 29"/>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Seuls les pointages à l’état Soumis peuvent être validés ou refusés.</a:t>
            </a:r>
          </a:p>
        </p:txBody>
      </p:sp>
      <p:sp>
        <p:nvSpPr>
          <p:cNvPr id="32" name="TextBox 31"/>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transition_entry · entry-detail dans App.jsx</a:t>
            </a:r>
          </a:p>
        </p:txBody>
      </p:sp>
      <p:sp>
        <p:nvSpPr>
          <p:cNvPr id="33" name="TextBox 32"/>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07 / ESPACE CLIENT</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Configurer un accès client par projet</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Parcours administrateur : Projets → Accès client.</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CRÉER L’ACCÈS</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Choisir l’identifiant du projet, saisir ou générer un mot</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de passe et activer le compte.</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TRANSMETTRE LES INFORMATIONS</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Communiquer l’adresse de connexion /project/login et</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les identifiants au contact autorisé.</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MAINTENIR L’ACCÈS</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Modifier l’identifiant, remplacer le mot de passe ou</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désactiver le compte si nécessaire.</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LIMITER LE PÉRIMÈTRE</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 compte est associé à un projet unique. Il ne donne</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pas automatiquement accès aux autres projets du</a:t>
            </a:r>
          </a:p>
        </p:txBody>
      </p:sp>
      <p:sp>
        <p:nvSpPr>
          <p:cNvPr id="28" name="TextBox 27"/>
          <p:cNvSpPr txBox="1"/>
          <p:nvPr/>
        </p:nvSpPr>
        <p:spPr>
          <a:xfrm>
            <a:off x="6502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client.</a:t>
            </a:r>
          </a:p>
        </p:txBody>
      </p:sp>
      <p:sp>
        <p:nvSpPr>
          <p:cNvPr id="29" name="Rounded Rectangle 28"/>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Le mot de passe stocké ne peut pas être relu : le noter lors de sa création.</a:t>
            </a:r>
          </a:p>
        </p:txBody>
      </p:sp>
      <p:sp>
        <p:nvSpPr>
          <p:cNvPr id="31" name="TextBox 30"/>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ProjectAccess.jsx · ProjectViewSet.client_access · LoginView</a:t>
            </a:r>
          </a:p>
        </p:txBody>
      </p:sp>
      <p:sp>
        <p:nvSpPr>
          <p:cNvPr id="32" name="TextBox 31"/>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08 / SUIVI FINANCIER</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Facturer les interventions validées</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Fonction réservée à l’administrateur.</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SÉLECTIONNER</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Choisir un projet et ses pointages validés, encore non</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facturés.</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PARAMÉTRER</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Vérifier l’échéance, les tarifs applicables et le taux de</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taxe saisi explicitement.</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ÉMETTRE</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Créer une facture numérotée avec ses lignes,</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montants et informations de référence figés à</a:t>
            </a:r>
          </a:p>
        </p:txBody>
      </p:sp>
      <p:sp>
        <p:nvSpPr>
          <p:cNvPr id="23" name="TextBox 22"/>
          <p:cNvSpPr txBox="1"/>
          <p:nvPr/>
        </p:nvSpPr>
        <p:spPr>
          <a:xfrm>
            <a:off x="787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l’émission.</a:t>
            </a:r>
          </a:p>
        </p:txBody>
      </p:sp>
      <p:sp>
        <p:nvSpPr>
          <p:cNvPr id="24" name="Rounded Rectangle 23"/>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CONSULTER ET IMPRIMER</a:t>
            </a:r>
          </a:p>
        </p:txBody>
      </p:sp>
      <p:sp>
        <p:nvSpPr>
          <p:cNvPr id="27" name="TextBox 26"/>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Ouvrir le détail de la facture, consulter ses paiements</a:t>
            </a:r>
          </a:p>
        </p:txBody>
      </p:sp>
      <p:sp>
        <p:nvSpPr>
          <p:cNvPr id="28" name="TextBox 27"/>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et imprimer depuis le navigateur.</a:t>
            </a:r>
          </a:p>
        </p:txBody>
      </p:sp>
      <p:sp>
        <p:nvSpPr>
          <p:cNvPr id="29" name="Rounded Rectangle 28"/>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Un pointage facturé ne peut pas être sélectionné une seconde fois.</a:t>
            </a:r>
          </a:p>
        </p:txBody>
      </p:sp>
      <p:sp>
        <p:nvSpPr>
          <p:cNvPr id="31" name="TextBox 30"/>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create_invoice · InvoiceCreateSerializer · InvoiceDetail · README</a:t>
            </a:r>
          </a:p>
        </p:txBody>
      </p:sp>
      <p:sp>
        <p:nvSpPr>
          <p:cNvPr id="32" name="TextBox 31"/>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08 / SUIVI FINANCIER</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Suivre les règlements clients</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Un enregistrement distinct pour chaque paiement.</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ENREGISTRER</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Sélectionner la facture, renseigner le montant, la date,</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 mode de paiement et la référence.</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MODES DISPONIBLES</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Virement, espèces ou chèque. Le paiement peut être</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partiel ou couvrir le solde restant.</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SUIVRE LE SOLDE</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La facture évolue entre Non payée, Partiellement</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payée et Payée selon les montants enregistrés.</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CONTRÔLER LES MONTANTS</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Montant positif, pas de dépassement du solde, pas de</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date future ni de date antérieure à la facture.</a:t>
            </a:r>
          </a:p>
        </p:txBody>
      </p:sp>
      <p:sp>
        <p:nvSpPr>
          <p:cNvPr id="28" name="Rounded Rectangle 27"/>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Un paiement enregistré met à jour le solde utilisé dans le suivi administrateur.</a:t>
            </a:r>
          </a:p>
        </p:txBody>
      </p:sp>
      <p:sp>
        <p:nvSpPr>
          <p:cNvPr id="30" name="TextBox 29"/>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record_payment · PaymentSerializer · Invoice.balance</a:t>
            </a:r>
          </a:p>
        </p:txBody>
      </p:sp>
      <p:sp>
        <p:nvSpPr>
          <p:cNvPr id="31" name="TextBox 30"/>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08 / SUIVI FINANCIER</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Tarifs et jours fériés</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Distinguer le montant facturé au client du coût calculé pour le technicien.</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JOUR ORDINAIRE — CLIENT</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Heures validées sélectionnées × tarif client horaire du</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projet.</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JOUR ORDINAIRE — TECHNICIEN</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Heures personnelles validées ou facturées × tarif</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technicien horaire du projet.</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JOUR FÉRIÉ — CLIENT</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Forfait client par technicien et date fériée, réparti entre</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les pointages sélectionnés dans la facture.</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JOUR FÉRIÉ — TECHNICIEN</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Forfait technicien par date fériée travaillée et projet ;</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calendrier géré par l’administrateur.</a:t>
            </a:r>
          </a:p>
        </p:txBody>
      </p:sp>
      <p:sp>
        <p:nvSpPr>
          <p:cNvPr id="28" name="Rounded Rectangle 27"/>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Les forfaits client et technicien sont deux paramètres indépendants.</a:t>
            </a:r>
          </a:p>
        </p:txBody>
      </p:sp>
      <p:sp>
        <p:nvSpPr>
          <p:cNvPr id="30" name="TextBox 29"/>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create_invoice · get_technician_labor_cost · PublicHolidayViewSet</a:t>
            </a:r>
          </a:p>
        </p:txBody>
      </p:sp>
      <p:sp>
        <p:nvSpPr>
          <p:cNvPr id="31" name="TextBox 30"/>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09 / CONFIANCE &amp; ACCÈS</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Séparer les données et conserver les traces</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Des contrôles intégrés au fonctionnement métier.</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AUTHENTIFICATION</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Sessions Django, mots de passe hachés, protection</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CSRF et limitation des tentatives de connexion.</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ISOLATION DES PÉRIMÈTRES</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Filtrage des projets et pointages selon le rôle,</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l’affectation et le compte client associé.</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DOCUMENTS PRIVÉS</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Téléchargement authentifié des CV, photos et</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certificats ; accès limité aux rôles internes autorisés.</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TRAÇABILITÉ</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Historique daté des états de pointage, auteur des</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décisions, motif de refus et référence de facture.</a:t>
            </a:r>
          </a:p>
        </p:txBody>
      </p:sp>
      <p:sp>
        <p:nvSpPr>
          <p:cNvPr id="28" name="Rounded Rectangle 27"/>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Ces mécanismes sont implémentés ; ils ne constituent pas une certification de sécurité.</a:t>
            </a:r>
          </a:p>
        </p:txBody>
      </p:sp>
      <p:sp>
        <p:nvSpPr>
          <p:cNvPr id="30" name="TextBox 29"/>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access.py · views.py · services.py · serializers.py</a:t>
            </a:r>
          </a:p>
        </p:txBody>
      </p:sp>
      <p:sp>
        <p:nvSpPr>
          <p:cNvPr id="31" name="TextBox 30"/>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09 / CONFIANCE &amp; ACCÈS</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Un usage web et un accès Android</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L’interface s’adapte aux écrans de bureau et de téléphone.</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NAVIGATEUR</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Accès à l’application web en français depuis un</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ordinateur ou un téléphone.</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ESPACE TECHNICIEN</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Présentation adaptée au mobile pour les projets, les</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pointages et les gains personnels.</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ANDROID LOCAL</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Une application de développement ouvre l’espace</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technicien dans une WebView avec identité</a:t>
            </a:r>
          </a:p>
        </p:txBody>
      </p:sp>
      <p:sp>
        <p:nvSpPr>
          <p:cNvPr id="23" name="TextBox 22"/>
          <p:cNvSpPr txBox="1"/>
          <p:nvPr/>
        </p:nvSpPr>
        <p:spPr>
          <a:xfrm>
            <a:off x="787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Copetrolite.</a:t>
            </a:r>
          </a:p>
        </p:txBody>
      </p:sp>
      <p:sp>
        <p:nvSpPr>
          <p:cNvPr id="24" name="Rounded Rectangle 23"/>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CONDITIONS ACTUELLES</a:t>
            </a:r>
          </a:p>
        </p:txBody>
      </p:sp>
      <p:sp>
        <p:nvSpPr>
          <p:cNvPr id="27" name="TextBox 26"/>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 paquet Android documenté dépend du réseau local</a:t>
            </a:r>
          </a:p>
        </p:txBody>
      </p:sp>
      <p:sp>
        <p:nvSpPr>
          <p:cNvPr id="28" name="TextBox 27"/>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et des serveurs démarrés. Un accès public demande</a:t>
            </a:r>
          </a:p>
        </p:txBody>
      </p:sp>
      <p:sp>
        <p:nvSpPr>
          <p:cNvPr id="29" name="TextBox 28"/>
          <p:cNvSpPr txBox="1"/>
          <p:nvPr/>
        </p:nvSpPr>
        <p:spPr>
          <a:xfrm>
            <a:off x="6502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une configuration de déploiement.</a:t>
            </a:r>
          </a:p>
        </p:txBody>
      </p:sp>
      <p:sp>
        <p:nvSpPr>
          <p:cNvPr id="30" name="Rounded Rectangle 29"/>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La version Android actuelle n’est pas présentée comme une application hors ligne.</a:t>
            </a:r>
          </a:p>
        </p:txBody>
      </p:sp>
      <p:sp>
        <p:nvSpPr>
          <p:cNvPr id="32" name="TextBox 31"/>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README · frontend/src/App.jsx · styles.css</a:t>
            </a:r>
          </a:p>
        </p:txBody>
      </p:sp>
      <p:sp>
        <p:nvSpPr>
          <p:cNvPr id="33" name="TextBox 32"/>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10 / SOCLE TECHNIQUE</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Une architecture organisée par responsabilité</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Vue de la configuration réellement présente dans le projet.</a:t>
            </a:r>
          </a:p>
        </p:txBody>
      </p:sp>
      <p:sp>
        <p:nvSpPr>
          <p:cNvPr id="8" name="Rounded Rectangle 7"/>
          <p:cNvSpPr/>
          <p:nvPr/>
        </p:nvSpPr>
        <p:spPr>
          <a:xfrm>
            <a:off x="533400" y="2374900"/>
            <a:ext cx="262890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514600"/>
            <a:ext cx="236220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01</a:t>
            </a:r>
          </a:p>
        </p:txBody>
      </p:sp>
      <p:sp>
        <p:nvSpPr>
          <p:cNvPr id="10" name="TextBox 9"/>
          <p:cNvSpPr txBox="1"/>
          <p:nvPr/>
        </p:nvSpPr>
        <p:spPr>
          <a:xfrm>
            <a:off x="711200" y="2908300"/>
            <a:ext cx="236220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INTERFACE</a:t>
            </a:r>
          </a:p>
        </p:txBody>
      </p:sp>
      <p:sp>
        <p:nvSpPr>
          <p:cNvPr id="11" name="TextBox 10"/>
          <p:cNvSpPr txBox="1"/>
          <p:nvPr/>
        </p:nvSpPr>
        <p:spPr>
          <a:xfrm>
            <a:off x="711200" y="3213100"/>
            <a:ext cx="236220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React / Vite</a:t>
            </a:r>
          </a:p>
        </p:txBody>
      </p:sp>
      <p:sp>
        <p:nvSpPr>
          <p:cNvPr id="12" name="TextBox 11"/>
          <p:cNvSpPr txBox="1"/>
          <p:nvPr/>
        </p:nvSpPr>
        <p:spPr>
          <a:xfrm>
            <a:off x="711200" y="3543300"/>
            <a:ext cx="236220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Écrans et formulaires</a:t>
            </a:r>
          </a:p>
        </p:txBody>
      </p:sp>
      <p:sp>
        <p:nvSpPr>
          <p:cNvPr id="13" name="TextBox 12"/>
          <p:cNvSpPr txBox="1"/>
          <p:nvPr/>
        </p:nvSpPr>
        <p:spPr>
          <a:xfrm>
            <a:off x="320040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14" name="Rounded Rectangle 13"/>
          <p:cNvSpPr/>
          <p:nvPr/>
        </p:nvSpPr>
        <p:spPr>
          <a:xfrm>
            <a:off x="3365500" y="2374900"/>
            <a:ext cx="262890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3300" y="2514600"/>
            <a:ext cx="236220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02</a:t>
            </a:r>
          </a:p>
        </p:txBody>
      </p:sp>
      <p:sp>
        <p:nvSpPr>
          <p:cNvPr id="16" name="TextBox 15"/>
          <p:cNvSpPr txBox="1"/>
          <p:nvPr/>
        </p:nvSpPr>
        <p:spPr>
          <a:xfrm>
            <a:off x="3543300" y="2908300"/>
            <a:ext cx="236220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API MÉTIER</a:t>
            </a:r>
          </a:p>
        </p:txBody>
      </p:sp>
      <p:sp>
        <p:nvSpPr>
          <p:cNvPr id="17" name="TextBox 16"/>
          <p:cNvSpPr txBox="1"/>
          <p:nvPr/>
        </p:nvSpPr>
        <p:spPr>
          <a:xfrm>
            <a:off x="3543300" y="3213100"/>
            <a:ext cx="236220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Django REST</a:t>
            </a:r>
          </a:p>
        </p:txBody>
      </p:sp>
      <p:sp>
        <p:nvSpPr>
          <p:cNvPr id="18" name="TextBox 17"/>
          <p:cNvSpPr txBox="1"/>
          <p:nvPr/>
        </p:nvSpPr>
        <p:spPr>
          <a:xfrm>
            <a:off x="3543300" y="3543300"/>
            <a:ext cx="236220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Accès et validations</a:t>
            </a:r>
          </a:p>
        </p:txBody>
      </p:sp>
      <p:sp>
        <p:nvSpPr>
          <p:cNvPr id="19" name="TextBox 18"/>
          <p:cNvSpPr txBox="1"/>
          <p:nvPr/>
        </p:nvSpPr>
        <p:spPr>
          <a:xfrm>
            <a:off x="603250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20" name="Rounded Rectangle 19"/>
          <p:cNvSpPr/>
          <p:nvPr/>
        </p:nvSpPr>
        <p:spPr>
          <a:xfrm>
            <a:off x="6197600" y="2374900"/>
            <a:ext cx="262890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5400" y="2514600"/>
            <a:ext cx="236220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03</a:t>
            </a:r>
          </a:p>
        </p:txBody>
      </p:sp>
      <p:sp>
        <p:nvSpPr>
          <p:cNvPr id="22" name="TextBox 21"/>
          <p:cNvSpPr txBox="1"/>
          <p:nvPr/>
        </p:nvSpPr>
        <p:spPr>
          <a:xfrm>
            <a:off x="6375400" y="2908300"/>
            <a:ext cx="236220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DONNÉES</a:t>
            </a:r>
          </a:p>
        </p:txBody>
      </p:sp>
      <p:sp>
        <p:nvSpPr>
          <p:cNvPr id="23" name="TextBox 22"/>
          <p:cNvSpPr txBox="1"/>
          <p:nvPr/>
        </p:nvSpPr>
        <p:spPr>
          <a:xfrm>
            <a:off x="6375400" y="3213100"/>
            <a:ext cx="236220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MySQL configuré</a:t>
            </a:r>
          </a:p>
        </p:txBody>
      </p:sp>
      <p:sp>
        <p:nvSpPr>
          <p:cNvPr id="24" name="TextBox 23"/>
          <p:cNvSpPr txBox="1"/>
          <p:nvPr/>
        </p:nvSpPr>
        <p:spPr>
          <a:xfrm>
            <a:off x="6375400" y="3543300"/>
            <a:ext cx="236220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Données relationnelles</a:t>
            </a:r>
          </a:p>
        </p:txBody>
      </p:sp>
      <p:sp>
        <p:nvSpPr>
          <p:cNvPr id="25" name="TextBox 24"/>
          <p:cNvSpPr txBox="1"/>
          <p:nvPr/>
        </p:nvSpPr>
        <p:spPr>
          <a:xfrm>
            <a:off x="8864600" y="2895600"/>
            <a:ext cx="190500" cy="419100"/>
          </a:xfrm>
          <a:prstGeom prst="rect">
            <a:avLst/>
          </a:prstGeom>
          <a:noFill/>
        </p:spPr>
        <p:txBody>
          <a:bodyPr wrap="none" lIns="0" rIns="0" tIns="0" bIns="0">
            <a:spAutoFit/>
          </a:bodyPr>
          <a:lstStyle/>
          <a:p>
            <a:pPr>
              <a:spcBef>
                <a:spcPts val="0"/>
              </a:spcBef>
              <a:spcAft>
                <a:spcPts val="0"/>
              </a:spcAft>
              <a:defRPr sz="2200" b="1">
                <a:solidFill>
                  <a:srgbClr val="087F73"/>
                </a:solidFill>
                <a:latin typeface="Arial"/>
              </a:defRPr>
            </a:pPr>
            <a:r>
              <a:t>›</a:t>
            </a:r>
          </a:p>
        </p:txBody>
      </p:sp>
      <p:sp>
        <p:nvSpPr>
          <p:cNvPr id="26" name="Rounded Rectangle 25"/>
          <p:cNvSpPr/>
          <p:nvPr/>
        </p:nvSpPr>
        <p:spPr>
          <a:xfrm>
            <a:off x="9029700" y="2374900"/>
            <a:ext cx="2628900" cy="1574800"/>
          </a:xfrm>
          <a:prstGeom prst="roundRect">
            <a:avLst>
              <a:gd name="adj" fmla="val 5645"/>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07500" y="2514600"/>
            <a:ext cx="2362200" cy="361950"/>
          </a:xfrm>
          <a:prstGeom prst="rect">
            <a:avLst/>
          </a:prstGeom>
          <a:noFill/>
        </p:spPr>
        <p:txBody>
          <a:bodyPr wrap="none" lIns="0" rIns="0" tIns="0" bIns="0">
            <a:spAutoFit/>
          </a:bodyPr>
          <a:lstStyle/>
          <a:p>
            <a:pPr>
              <a:spcBef>
                <a:spcPts val="0"/>
              </a:spcBef>
              <a:spcAft>
                <a:spcPts val="0"/>
              </a:spcAft>
              <a:defRPr sz="1900" b="1">
                <a:solidFill>
                  <a:srgbClr val="D6B76D"/>
                </a:solidFill>
                <a:latin typeface="Arial"/>
              </a:defRPr>
            </a:pPr>
            <a:r>
              <a:t>04</a:t>
            </a:r>
          </a:p>
        </p:txBody>
      </p:sp>
      <p:sp>
        <p:nvSpPr>
          <p:cNvPr id="28" name="TextBox 27"/>
          <p:cNvSpPr txBox="1"/>
          <p:nvPr/>
        </p:nvSpPr>
        <p:spPr>
          <a:xfrm>
            <a:off x="9207500" y="2908300"/>
            <a:ext cx="2362200" cy="219075"/>
          </a:xfrm>
          <a:prstGeom prst="rect">
            <a:avLst/>
          </a:prstGeom>
          <a:noFill/>
        </p:spPr>
        <p:txBody>
          <a:bodyPr wrap="none" lIns="0" rIns="0" tIns="0" bIns="0">
            <a:spAutoFit/>
          </a:bodyPr>
          <a:lstStyle/>
          <a:p>
            <a:pPr>
              <a:spcBef>
                <a:spcPts val="0"/>
              </a:spcBef>
              <a:spcAft>
                <a:spcPts val="0"/>
              </a:spcAft>
              <a:defRPr sz="1150" b="1">
                <a:solidFill>
                  <a:srgbClr val="FFFFFF"/>
                </a:solidFill>
                <a:latin typeface="Arial"/>
              </a:defRPr>
            </a:pPr>
            <a:r>
              <a:t>DOCUMENTS</a:t>
            </a:r>
          </a:p>
        </p:txBody>
      </p:sp>
      <p:sp>
        <p:nvSpPr>
          <p:cNvPr id="29" name="TextBox 28"/>
          <p:cNvSpPr txBox="1"/>
          <p:nvPr/>
        </p:nvSpPr>
        <p:spPr>
          <a:xfrm>
            <a:off x="9207500" y="3213100"/>
            <a:ext cx="2362200" cy="200025"/>
          </a:xfrm>
          <a:prstGeom prst="rect">
            <a:avLst/>
          </a:prstGeom>
          <a:noFill/>
        </p:spPr>
        <p:txBody>
          <a:bodyPr wrap="none" lIns="0" rIns="0" tIns="0" bIns="0">
            <a:spAutoFit/>
          </a:bodyPr>
          <a:lstStyle/>
          <a:p>
            <a:pPr>
              <a:spcBef>
                <a:spcPts val="0"/>
              </a:spcBef>
              <a:spcAft>
                <a:spcPts val="0"/>
              </a:spcAft>
              <a:defRPr sz="1050" b="0">
                <a:solidFill>
                  <a:srgbClr val="B8EAD9"/>
                </a:solidFill>
                <a:latin typeface="Arial"/>
              </a:defRPr>
            </a:pPr>
            <a:r>
              <a:t>Stockage local</a:t>
            </a:r>
          </a:p>
        </p:txBody>
      </p:sp>
      <p:sp>
        <p:nvSpPr>
          <p:cNvPr id="30" name="TextBox 29"/>
          <p:cNvSpPr txBox="1"/>
          <p:nvPr/>
        </p:nvSpPr>
        <p:spPr>
          <a:xfrm>
            <a:off x="9207500" y="3543300"/>
            <a:ext cx="2362200" cy="180975"/>
          </a:xfrm>
          <a:prstGeom prst="rect">
            <a:avLst/>
          </a:prstGeom>
          <a:noFill/>
        </p:spPr>
        <p:txBody>
          <a:bodyPr wrap="none" lIns="0" rIns="0" tIns="0" bIns="0">
            <a:spAutoFit/>
          </a:bodyPr>
          <a:lstStyle/>
          <a:p>
            <a:pPr>
              <a:spcBef>
                <a:spcPts val="0"/>
              </a:spcBef>
              <a:spcAft>
                <a:spcPts val="0"/>
              </a:spcAft>
              <a:defRPr sz="950" b="0">
                <a:solidFill>
                  <a:srgbClr val="FFFFFF"/>
                </a:solidFill>
                <a:latin typeface="Arial"/>
              </a:defRPr>
            </a:pPr>
            <a:r>
              <a:t>CV, photos, certificats</a:t>
            </a:r>
          </a:p>
        </p:txBody>
      </p:sp>
      <p:sp>
        <p:nvSpPr>
          <p:cNvPr id="31" name="Rounded Rectangle 30"/>
          <p:cNvSpPr/>
          <p:nvPr/>
        </p:nvSpPr>
        <p:spPr>
          <a:xfrm>
            <a:off x="533400" y="4203700"/>
            <a:ext cx="5410200" cy="1549400"/>
          </a:xfrm>
          <a:prstGeom prst="roundRect">
            <a:avLst>
              <a:gd name="adj" fmla="val 655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33400" y="4406900"/>
            <a:ext cx="38100" cy="11430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7400" y="43942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EXTRACTION DOCUMENTAIRE</a:t>
            </a:r>
          </a:p>
        </p:txBody>
      </p:sp>
      <p:sp>
        <p:nvSpPr>
          <p:cNvPr id="34" name="TextBox 33"/>
          <p:cNvSpPr txBox="1"/>
          <p:nvPr/>
        </p:nvSpPr>
        <p:spPr>
          <a:xfrm>
            <a:off x="787400" y="47498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PyMuPDF lit les PDF et les images. L’OCR Windows</a:t>
            </a:r>
          </a:p>
        </p:txBody>
      </p:sp>
      <p:sp>
        <p:nvSpPr>
          <p:cNvPr id="35" name="TextBox 34"/>
          <p:cNvSpPr txBox="1"/>
          <p:nvPr/>
        </p:nvSpPr>
        <p:spPr>
          <a:xfrm>
            <a:off x="787400" y="50017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fournit le texte des pages scannées.</a:t>
            </a:r>
          </a:p>
        </p:txBody>
      </p:sp>
      <p:sp>
        <p:nvSpPr>
          <p:cNvPr id="36" name="Rounded Rectangle 35"/>
          <p:cNvSpPr/>
          <p:nvPr/>
        </p:nvSpPr>
        <p:spPr>
          <a:xfrm>
            <a:off x="6248400" y="4203700"/>
            <a:ext cx="5410200" cy="1549400"/>
          </a:xfrm>
          <a:prstGeom prst="roundRect">
            <a:avLst>
              <a:gd name="adj" fmla="val 655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48400" y="4406900"/>
            <a:ext cx="38100" cy="11430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02400" y="43942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COHÉRENCE MÉTIER</a:t>
            </a:r>
          </a:p>
        </p:txBody>
      </p:sp>
      <p:sp>
        <p:nvSpPr>
          <p:cNvPr id="39" name="TextBox 38"/>
          <p:cNvSpPr txBox="1"/>
          <p:nvPr/>
        </p:nvSpPr>
        <p:spPr>
          <a:xfrm>
            <a:off x="6502400" y="47498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Les règles d’accès, les transitions de pointage et les</a:t>
            </a:r>
          </a:p>
        </p:txBody>
      </p:sp>
      <p:sp>
        <p:nvSpPr>
          <p:cNvPr id="40" name="TextBox 39"/>
          <p:cNvSpPr txBox="1"/>
          <p:nvPr/>
        </p:nvSpPr>
        <p:spPr>
          <a:xfrm>
            <a:off x="6502400" y="50017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calculs financiers sont exécutés côté serveur.</a:t>
            </a:r>
          </a:p>
        </p:txBody>
      </p:sp>
      <p:sp>
        <p:nvSpPr>
          <p:cNvPr id="41" name="Rounded Rectangle 40"/>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Les tests rapides utilisent une base SQLite en mémoire, distincte de la base applicative.</a:t>
            </a:r>
          </a:p>
        </p:txBody>
      </p:sp>
      <p:sp>
        <p:nvSpPr>
          <p:cNvPr id="43" name="TextBox 42"/>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coproject/settings.py · test_settings.py · cv.py · README</a:t>
            </a:r>
          </a:p>
        </p:txBody>
      </p:sp>
      <p:sp>
        <p:nvSpPr>
          <p:cNvPr id="44" name="TextBox 43"/>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11 / DÉMONSTRATION</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Un exemple simple, de l’heure au solde</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Exemple fictif, hors jour férié, avec un taux de taxe de 0 % pour simplifier.</a:t>
            </a:r>
          </a:p>
        </p:txBody>
      </p:sp>
      <p:sp>
        <p:nvSpPr>
          <p:cNvPr id="8" name="Rounded Rectangle 7"/>
          <p:cNvSpPr/>
          <p:nvPr/>
        </p:nvSpPr>
        <p:spPr>
          <a:xfrm>
            <a:off x="533400" y="2374900"/>
            <a:ext cx="3505200" cy="1435100"/>
          </a:xfrm>
          <a:prstGeom prst="roundRect">
            <a:avLst>
              <a:gd name="adj" fmla="val 7079"/>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2628900"/>
            <a:ext cx="3111500" cy="571500"/>
          </a:xfrm>
          <a:prstGeom prst="rect">
            <a:avLst/>
          </a:prstGeom>
          <a:noFill/>
        </p:spPr>
        <p:txBody>
          <a:bodyPr wrap="none" lIns="0" rIns="0" tIns="0" bIns="0">
            <a:spAutoFit/>
          </a:bodyPr>
          <a:lstStyle/>
          <a:p>
            <a:pPr>
              <a:spcBef>
                <a:spcPts val="0"/>
              </a:spcBef>
              <a:spcAft>
                <a:spcPts val="0"/>
              </a:spcAft>
              <a:defRPr sz="3000" b="1">
                <a:solidFill>
                  <a:srgbClr val="FFFFFF"/>
                </a:solidFill>
                <a:latin typeface="Arial"/>
              </a:defRPr>
            </a:pPr>
            <a:r>
              <a:t>8 h</a:t>
            </a:r>
          </a:p>
        </p:txBody>
      </p:sp>
      <p:sp>
        <p:nvSpPr>
          <p:cNvPr id="10" name="TextBox 9"/>
          <p:cNvSpPr txBox="1"/>
          <p:nvPr/>
        </p:nvSpPr>
        <p:spPr>
          <a:xfrm>
            <a:off x="762000" y="3276600"/>
            <a:ext cx="3111500" cy="285750"/>
          </a:xfrm>
          <a:prstGeom prst="rect">
            <a:avLst/>
          </a:prstGeom>
          <a:noFill/>
        </p:spPr>
        <p:txBody>
          <a:bodyPr wrap="none" lIns="0" rIns="0" tIns="0" bIns="0">
            <a:spAutoFit/>
          </a:bodyPr>
          <a:lstStyle/>
          <a:p>
            <a:pPr>
              <a:spcBef>
                <a:spcPts val="0"/>
              </a:spcBef>
              <a:spcAft>
                <a:spcPts val="0"/>
              </a:spcAft>
              <a:defRPr sz="1500" b="0">
                <a:solidFill>
                  <a:srgbClr val="B8EAD9"/>
                </a:solidFill>
                <a:latin typeface="Arial"/>
              </a:defRPr>
            </a:pPr>
            <a:r>
              <a:t>Pointage validé</a:t>
            </a:r>
          </a:p>
        </p:txBody>
      </p:sp>
      <p:sp>
        <p:nvSpPr>
          <p:cNvPr id="11" name="Rounded Rectangle 10"/>
          <p:cNvSpPr/>
          <p:nvPr/>
        </p:nvSpPr>
        <p:spPr>
          <a:xfrm>
            <a:off x="4343400" y="2374900"/>
            <a:ext cx="3505200" cy="1435100"/>
          </a:xfrm>
          <a:prstGeom prst="roundRect">
            <a:avLst>
              <a:gd name="adj" fmla="val 7079"/>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628900"/>
            <a:ext cx="3111500" cy="571500"/>
          </a:xfrm>
          <a:prstGeom prst="rect">
            <a:avLst/>
          </a:prstGeom>
          <a:noFill/>
        </p:spPr>
        <p:txBody>
          <a:bodyPr wrap="none" lIns="0" rIns="0" tIns="0" bIns="0">
            <a:spAutoFit/>
          </a:bodyPr>
          <a:lstStyle/>
          <a:p>
            <a:pPr>
              <a:spcBef>
                <a:spcPts val="0"/>
              </a:spcBef>
              <a:spcAft>
                <a:spcPts val="0"/>
              </a:spcAft>
              <a:defRPr sz="3000" b="1">
                <a:solidFill>
                  <a:srgbClr val="FFFFFF"/>
                </a:solidFill>
                <a:latin typeface="Arial"/>
              </a:defRPr>
            </a:pPr>
            <a:r>
              <a:t>20 000 DZD</a:t>
            </a:r>
          </a:p>
        </p:txBody>
      </p:sp>
      <p:sp>
        <p:nvSpPr>
          <p:cNvPr id="13" name="TextBox 12"/>
          <p:cNvSpPr txBox="1"/>
          <p:nvPr/>
        </p:nvSpPr>
        <p:spPr>
          <a:xfrm>
            <a:off x="4572000" y="3276600"/>
            <a:ext cx="3111500" cy="285750"/>
          </a:xfrm>
          <a:prstGeom prst="rect">
            <a:avLst/>
          </a:prstGeom>
          <a:noFill/>
        </p:spPr>
        <p:txBody>
          <a:bodyPr wrap="none" lIns="0" rIns="0" tIns="0" bIns="0">
            <a:spAutoFit/>
          </a:bodyPr>
          <a:lstStyle/>
          <a:p>
            <a:pPr>
              <a:spcBef>
                <a:spcPts val="0"/>
              </a:spcBef>
              <a:spcAft>
                <a:spcPts val="0"/>
              </a:spcAft>
              <a:defRPr sz="1500" b="0">
                <a:solidFill>
                  <a:srgbClr val="B8EAD9"/>
                </a:solidFill>
                <a:latin typeface="Arial"/>
              </a:defRPr>
            </a:pPr>
            <a:r>
              <a:t>Facture client</a:t>
            </a:r>
          </a:p>
        </p:txBody>
      </p:sp>
      <p:sp>
        <p:nvSpPr>
          <p:cNvPr id="14" name="Rounded Rectangle 13"/>
          <p:cNvSpPr/>
          <p:nvPr/>
        </p:nvSpPr>
        <p:spPr>
          <a:xfrm>
            <a:off x="8153400" y="2374900"/>
            <a:ext cx="3505200" cy="1435100"/>
          </a:xfrm>
          <a:prstGeom prst="roundRect">
            <a:avLst>
              <a:gd name="adj" fmla="val 7079"/>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628900"/>
            <a:ext cx="3111500" cy="571500"/>
          </a:xfrm>
          <a:prstGeom prst="rect">
            <a:avLst/>
          </a:prstGeom>
          <a:noFill/>
        </p:spPr>
        <p:txBody>
          <a:bodyPr wrap="none" lIns="0" rIns="0" tIns="0" bIns="0">
            <a:spAutoFit/>
          </a:bodyPr>
          <a:lstStyle/>
          <a:p>
            <a:pPr>
              <a:spcBef>
                <a:spcPts val="0"/>
              </a:spcBef>
              <a:spcAft>
                <a:spcPts val="0"/>
              </a:spcAft>
              <a:defRPr sz="3000" b="1">
                <a:solidFill>
                  <a:srgbClr val="FFFFFF"/>
                </a:solidFill>
                <a:latin typeface="Arial"/>
              </a:defRPr>
            </a:pPr>
            <a:r>
              <a:t>8 000 DZD</a:t>
            </a:r>
          </a:p>
        </p:txBody>
      </p:sp>
      <p:sp>
        <p:nvSpPr>
          <p:cNvPr id="16" name="TextBox 15"/>
          <p:cNvSpPr txBox="1"/>
          <p:nvPr/>
        </p:nvSpPr>
        <p:spPr>
          <a:xfrm>
            <a:off x="8382000" y="3276600"/>
            <a:ext cx="3111500" cy="285750"/>
          </a:xfrm>
          <a:prstGeom prst="rect">
            <a:avLst/>
          </a:prstGeom>
          <a:noFill/>
        </p:spPr>
        <p:txBody>
          <a:bodyPr wrap="none" lIns="0" rIns="0" tIns="0" bIns="0">
            <a:spAutoFit/>
          </a:bodyPr>
          <a:lstStyle/>
          <a:p>
            <a:pPr>
              <a:spcBef>
                <a:spcPts val="0"/>
              </a:spcBef>
              <a:spcAft>
                <a:spcPts val="0"/>
              </a:spcAft>
              <a:defRPr sz="1500" b="0">
                <a:solidFill>
                  <a:srgbClr val="B8EAD9"/>
                </a:solidFill>
                <a:latin typeface="Arial"/>
              </a:defRPr>
            </a:pPr>
            <a:r>
              <a:t>Gains calculés</a:t>
            </a:r>
          </a:p>
        </p:txBody>
      </p:sp>
      <p:sp>
        <p:nvSpPr>
          <p:cNvPr id="17" name="Rounded Rectangle 16"/>
          <p:cNvSpPr/>
          <p:nvPr/>
        </p:nvSpPr>
        <p:spPr>
          <a:xfrm>
            <a:off x="533400" y="4076700"/>
            <a:ext cx="5410200" cy="1638300"/>
          </a:xfrm>
          <a:prstGeom prst="roundRect">
            <a:avLst>
              <a:gd name="adj" fmla="val 620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3400" y="4279900"/>
            <a:ext cx="38100" cy="12319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7400" y="42672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PARAMÈTRES FICTIFS</a:t>
            </a:r>
          </a:p>
        </p:txBody>
      </p:sp>
      <p:sp>
        <p:nvSpPr>
          <p:cNvPr id="20" name="TextBox 19"/>
          <p:cNvSpPr txBox="1"/>
          <p:nvPr/>
        </p:nvSpPr>
        <p:spPr>
          <a:xfrm>
            <a:off x="787400" y="46228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Tarif client : 2 500 DZD / h</a:t>
            </a:r>
          </a:p>
        </p:txBody>
      </p:sp>
      <p:sp>
        <p:nvSpPr>
          <p:cNvPr id="21" name="TextBox 20"/>
          <p:cNvSpPr txBox="1"/>
          <p:nvPr/>
        </p:nvSpPr>
        <p:spPr>
          <a:xfrm>
            <a:off x="787400" y="48747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Tarif technicien : 1 000 DZD / h</a:t>
            </a:r>
          </a:p>
        </p:txBody>
      </p:sp>
      <p:sp>
        <p:nvSpPr>
          <p:cNvPr id="22" name="TextBox 21"/>
          <p:cNvSpPr txBox="1"/>
          <p:nvPr/>
        </p:nvSpPr>
        <p:spPr>
          <a:xfrm>
            <a:off x="787400" y="51267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Taxe de démonstration : 0 %</a:t>
            </a:r>
          </a:p>
        </p:txBody>
      </p:sp>
      <p:sp>
        <p:nvSpPr>
          <p:cNvPr id="23" name="Rounded Rectangle 22"/>
          <p:cNvSpPr/>
          <p:nvPr/>
        </p:nvSpPr>
        <p:spPr>
          <a:xfrm>
            <a:off x="6248400" y="4076700"/>
            <a:ext cx="5410200" cy="1638300"/>
          </a:xfrm>
          <a:prstGeom prst="roundRect">
            <a:avLst>
              <a:gd name="adj" fmla="val 620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279900"/>
            <a:ext cx="38100" cy="12319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2672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RÈGLEMENT CLIENT PARTIEL</a:t>
            </a:r>
          </a:p>
        </p:txBody>
      </p:sp>
      <p:sp>
        <p:nvSpPr>
          <p:cNvPr id="26" name="TextBox 25"/>
          <p:cNvSpPr txBox="1"/>
          <p:nvPr/>
        </p:nvSpPr>
        <p:spPr>
          <a:xfrm>
            <a:off x="6502400" y="46228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Facture : 20 000 DZD</a:t>
            </a:r>
          </a:p>
        </p:txBody>
      </p:sp>
      <p:sp>
        <p:nvSpPr>
          <p:cNvPr id="27" name="TextBox 26"/>
          <p:cNvSpPr txBox="1"/>
          <p:nvPr/>
        </p:nvSpPr>
        <p:spPr>
          <a:xfrm>
            <a:off x="6502400" y="48747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Paiement reçu : 12 000 DZD</a:t>
            </a:r>
          </a:p>
        </p:txBody>
      </p:sp>
      <p:sp>
        <p:nvSpPr>
          <p:cNvPr id="28" name="TextBox 27"/>
          <p:cNvSpPr txBox="1"/>
          <p:nvPr/>
        </p:nvSpPr>
        <p:spPr>
          <a:xfrm>
            <a:off x="6502400" y="51267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Reste à encaisser : 8 000 DZD</a:t>
            </a:r>
          </a:p>
        </p:txBody>
      </p:sp>
      <p:sp>
        <p:nvSpPr>
          <p:cNvPr id="29" name="Rounded Rectangle 28"/>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Les gains calculés du technicien et le solde client sont deux informations distinctes.</a:t>
            </a:r>
          </a:p>
        </p:txBody>
      </p:sp>
      <p:sp>
        <p:nvSpPr>
          <p:cNvPr id="31" name="TextBox 30"/>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Formules : services.py · ProjectSerializer</a:t>
            </a:r>
          </a:p>
        </p:txBody>
      </p:sp>
      <p:sp>
        <p:nvSpPr>
          <p:cNvPr id="32" name="TextBox 31"/>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11 / DÉMONSTRATION</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Le scénario à présenter en direct</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Un parcours de 8 à 10 minutes avec des données de démonstration.</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1 · ADMINISTRATEUR</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Présenter un client et un dossier technicien ; extraire</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l’expérience et la photo d’un CV, relire et enregistrer.</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2 · ORGANISATION</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Créer un projet, affecter le technicien et configurer un</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accès client dédié.</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3 · TECHNICIEN ET CLIENT</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Saisir puis soumettre les heures ; se connecter côté</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client pour valider ou refuser avec un motif.</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4 · ADMINISTRATEUR</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Créer la facture à partir du pointage validé, enregistrer</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un paiement et montrer le solde restant.</a:t>
            </a:r>
          </a:p>
        </p:txBody>
      </p:sp>
      <p:sp>
        <p:nvSpPr>
          <p:cNvPr id="28" name="Rounded Rectangle 27"/>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Préparer un CV de démonstration et des comptes de test avant la présentation.</a:t>
            </a:r>
          </a:p>
        </p:txBody>
      </p:sp>
      <p:sp>
        <p:nvSpPr>
          <p:cNvPr id="30" name="TextBox 29"/>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Parcours issus des écrans et règles métier existants</a:t>
            </a:r>
          </a:p>
        </p:txBody>
      </p:sp>
      <p:sp>
        <p:nvSpPr>
          <p:cNvPr id="31" name="TextBox 30"/>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12 / ÉTAT DU PROJET</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Périmètre livré et vérifications</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État observé le 18 octobre 2026 sur le code local.</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PARCOURS MÉTIER</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35 tests métier et accès réussis : rôles, isolation,</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validation, factures, paiements et gains.</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CV ET PROFILS</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26 tests exécutés : 23 réussis et 3 en échec. Les</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écarts concernent un format d’adresse et des</a:t>
            </a:r>
          </a:p>
        </p:txBody>
      </p:sp>
      <p:sp>
        <p:nvSpPr>
          <p:cNvPr id="18" name="TextBox 17"/>
          <p:cNvSpPr txBox="1"/>
          <p:nvPr/>
        </p:nvSpPr>
        <p:spPr>
          <a:xfrm>
            <a:off x="6502400" y="33741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scénarios de mise à jour de profil.</a:t>
            </a:r>
          </a:p>
        </p:txBody>
      </p:sp>
      <p:sp>
        <p:nvSpPr>
          <p:cNvPr id="19" name="Rounded Rectangle 18"/>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FONCTIONS PRÉSENTÉES</a:t>
            </a:r>
          </a:p>
        </p:txBody>
      </p:sp>
      <p:sp>
        <p:nvSpPr>
          <p:cNvPr id="22" name="TextBox 21"/>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Gestion des équipes et projets, extraction CV et</a:t>
            </a:r>
          </a:p>
        </p:txBody>
      </p:sp>
      <p:sp>
        <p:nvSpPr>
          <p:cNvPr id="23" name="TextBox 22"/>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photo, pointages, validation client et suivi financier</a:t>
            </a:r>
          </a:p>
        </p:txBody>
      </p:sp>
      <p:sp>
        <p:nvSpPr>
          <p:cNvPr id="24" name="TextBox 23"/>
          <p:cNvSpPr txBox="1"/>
          <p:nvPr/>
        </p:nvSpPr>
        <p:spPr>
          <a:xfrm>
            <a:off x="787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présents dans le code.</a:t>
            </a:r>
          </a:p>
        </p:txBody>
      </p:sp>
      <p:sp>
        <p:nvSpPr>
          <p:cNvPr id="25" name="Rounded Rectangle 24"/>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AVANT DIFFUSION LARGE</a:t>
            </a:r>
          </a:p>
        </p:txBody>
      </p:sp>
      <p:sp>
        <p:nvSpPr>
          <p:cNvPr id="28" name="TextBox 27"/>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Résoudre les écarts de tests, compléter les</a:t>
            </a:r>
          </a:p>
        </p:txBody>
      </p:sp>
      <p:sp>
        <p:nvSpPr>
          <p:cNvPr id="29" name="TextBox 28"/>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informations de l’émetteur sur les factures et préparer</a:t>
            </a:r>
          </a:p>
        </p:txBody>
      </p:sp>
      <p:sp>
        <p:nvSpPr>
          <p:cNvPr id="30" name="TextBox 29"/>
          <p:cNvSpPr txBox="1"/>
          <p:nvPr/>
        </p:nvSpPr>
        <p:spPr>
          <a:xfrm>
            <a:off x="6502400" y="5164836"/>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le déploiement public.</a:t>
            </a:r>
          </a:p>
        </p:txBody>
      </p:sp>
      <p:sp>
        <p:nvSpPr>
          <p:cNvPr id="31" name="Rounded Rectangle 30"/>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Les essais utilisent SQLite en mémoire ; ils ne constituent pas une recette de production.</a:t>
            </a:r>
          </a:p>
        </p:txBody>
      </p:sp>
      <p:sp>
        <p:nvSpPr>
          <p:cNvPr id="33" name="TextBox 32"/>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Exécution locale : manage.py test · 18/10/2026</a:t>
            </a:r>
          </a:p>
        </p:txBody>
      </p:sp>
      <p:sp>
        <p:nvSpPr>
          <p:cNvPr id="34" name="TextBox 33"/>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1-1-1.png"/>
          <p:cNvPicPr>
            <a:picLocks noChangeAspect="1"/>
          </p:cNvPicPr>
          <p:nvPr/>
        </p:nvPicPr>
        <p:blipFill>
          <a:blip r:embed="rId3"/>
          <a:stretch>
            <a:fillRect/>
          </a:stretch>
        </p:blipFill>
        <p:spPr>
          <a:xfrm>
            <a:off x="419100" y="38100"/>
            <a:ext cx="1422400" cy="1004845"/>
          </a:xfrm>
          <a:prstGeom prst="rect">
            <a:avLst/>
          </a:prstGeom>
        </p:spPr>
      </p:pic>
      <p:sp>
        <p:nvSpPr>
          <p:cNvPr id="4" name="TextBox 3"/>
          <p:cNvSpPr txBox="1"/>
          <p:nvPr/>
        </p:nvSpPr>
        <p:spPr>
          <a:xfrm>
            <a:off x="533400" y="1333500"/>
            <a:ext cx="11214100" cy="704850"/>
          </a:xfrm>
          <a:prstGeom prst="rect">
            <a:avLst/>
          </a:prstGeom>
          <a:noFill/>
        </p:spPr>
        <p:txBody>
          <a:bodyPr wrap="none" lIns="0" rIns="0" tIns="0" bIns="0">
            <a:spAutoFit/>
          </a:bodyPr>
          <a:lstStyle/>
          <a:p>
            <a:pPr>
              <a:spcBef>
                <a:spcPts val="0"/>
              </a:spcBef>
              <a:spcAft>
                <a:spcPts val="0"/>
              </a:spcAft>
              <a:defRPr sz="3700" b="1">
                <a:solidFill>
                  <a:srgbClr val="FFFFFF"/>
                </a:solidFill>
                <a:latin typeface="Arial"/>
              </a:defRPr>
            </a:pPr>
            <a:r>
              <a:t>Une chaîne de travail partagée</a:t>
            </a:r>
          </a:p>
        </p:txBody>
      </p:sp>
      <p:sp>
        <p:nvSpPr>
          <p:cNvPr id="5" name="TextBox 4"/>
          <p:cNvSpPr txBox="1"/>
          <p:nvPr/>
        </p:nvSpPr>
        <p:spPr>
          <a:xfrm>
            <a:off x="558800" y="2006600"/>
            <a:ext cx="11087100" cy="342900"/>
          </a:xfrm>
          <a:prstGeom prst="rect">
            <a:avLst/>
          </a:prstGeom>
          <a:noFill/>
        </p:spPr>
        <p:txBody>
          <a:bodyPr wrap="none" lIns="0" rIns="0" tIns="0" bIns="0">
            <a:spAutoFit/>
          </a:bodyPr>
          <a:lstStyle/>
          <a:p>
            <a:pPr>
              <a:spcBef>
                <a:spcPts val="0"/>
              </a:spcBef>
              <a:spcAft>
                <a:spcPts val="0"/>
              </a:spcAft>
              <a:defRPr sz="1800" b="0">
                <a:solidFill>
                  <a:srgbClr val="B8EAD9"/>
                </a:solidFill>
                <a:latin typeface="Arial"/>
              </a:defRPr>
            </a:pPr>
            <a:r>
              <a:t>De la compétence du technicien au règlement de l’intervention.</a:t>
            </a:r>
          </a:p>
        </p:txBody>
      </p:sp>
      <p:sp>
        <p:nvSpPr>
          <p:cNvPr id="6" name="Rounded Rectangle 5"/>
          <p:cNvSpPr/>
          <p:nvPr/>
        </p:nvSpPr>
        <p:spPr>
          <a:xfrm>
            <a:off x="533400" y="2768600"/>
            <a:ext cx="5410200" cy="1206500"/>
          </a:xfrm>
          <a:prstGeom prst="roundRect">
            <a:avLst>
              <a:gd name="adj" fmla="val 8421"/>
            </a:avLst>
          </a:prstGeom>
          <a:solidFill>
            <a:srgbClr val="125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3400" y="2971800"/>
            <a:ext cx="38100" cy="800100"/>
          </a:xfrm>
          <a:prstGeom prst="rect">
            <a:avLst/>
          </a:prstGeom>
          <a:solidFill>
            <a:srgbClr val="D6B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2959100"/>
            <a:ext cx="4965700" cy="266700"/>
          </a:xfrm>
          <a:prstGeom prst="rect">
            <a:avLst/>
          </a:prstGeom>
          <a:noFill/>
        </p:spPr>
        <p:txBody>
          <a:bodyPr wrap="none" lIns="0" rIns="0" tIns="0" bIns="0">
            <a:spAutoFit/>
          </a:bodyPr>
          <a:lstStyle/>
          <a:p>
            <a:pPr>
              <a:spcBef>
                <a:spcPts val="0"/>
              </a:spcBef>
              <a:spcAft>
                <a:spcPts val="0"/>
              </a:spcAft>
              <a:defRPr sz="1400" b="1">
                <a:solidFill>
                  <a:srgbClr val="B8EAD9"/>
                </a:solidFill>
                <a:latin typeface="Arial"/>
              </a:defRPr>
            </a:pPr>
            <a:r>
              <a:t>ADMINISTRATEUR</a:t>
            </a:r>
          </a:p>
        </p:txBody>
      </p:sp>
      <p:sp>
        <p:nvSpPr>
          <p:cNvPr id="9" name="TextBox 8"/>
          <p:cNvSpPr txBox="1"/>
          <p:nvPr/>
        </p:nvSpPr>
        <p:spPr>
          <a:xfrm>
            <a:off x="787400" y="3314700"/>
            <a:ext cx="4940300" cy="304800"/>
          </a:xfrm>
          <a:prstGeom prst="rect">
            <a:avLst/>
          </a:prstGeom>
          <a:noFill/>
        </p:spPr>
        <p:txBody>
          <a:bodyPr wrap="none" lIns="0" rIns="0" tIns="0" bIns="0">
            <a:spAutoFit/>
          </a:bodyPr>
          <a:lstStyle/>
          <a:p>
            <a:pPr>
              <a:spcBef>
                <a:spcPts val="0"/>
              </a:spcBef>
              <a:spcAft>
                <a:spcPts val="0"/>
              </a:spcAft>
              <a:defRPr sz="1600" b="0">
                <a:solidFill>
                  <a:srgbClr val="FFFFFF"/>
                </a:solidFill>
                <a:latin typeface="Arial"/>
              </a:defRPr>
            </a:pPr>
            <a:r>
              <a:t>Structure les accès et suit les finances.</a:t>
            </a:r>
          </a:p>
        </p:txBody>
      </p:sp>
      <p:sp>
        <p:nvSpPr>
          <p:cNvPr id="10" name="Rounded Rectangle 9"/>
          <p:cNvSpPr/>
          <p:nvPr/>
        </p:nvSpPr>
        <p:spPr>
          <a:xfrm>
            <a:off x="6248400" y="2768600"/>
            <a:ext cx="5410200" cy="1206500"/>
          </a:xfrm>
          <a:prstGeom prst="roundRect">
            <a:avLst>
              <a:gd name="adj" fmla="val 8421"/>
            </a:avLst>
          </a:prstGeom>
          <a:solidFill>
            <a:srgbClr val="125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400" y="2971800"/>
            <a:ext cx="38100" cy="800100"/>
          </a:xfrm>
          <a:prstGeom prst="rect">
            <a:avLst/>
          </a:prstGeom>
          <a:solidFill>
            <a:srgbClr val="D6B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02400" y="2959100"/>
            <a:ext cx="4965700" cy="266700"/>
          </a:xfrm>
          <a:prstGeom prst="rect">
            <a:avLst/>
          </a:prstGeom>
          <a:noFill/>
        </p:spPr>
        <p:txBody>
          <a:bodyPr wrap="none" lIns="0" rIns="0" tIns="0" bIns="0">
            <a:spAutoFit/>
          </a:bodyPr>
          <a:lstStyle/>
          <a:p>
            <a:pPr>
              <a:spcBef>
                <a:spcPts val="0"/>
              </a:spcBef>
              <a:spcAft>
                <a:spcPts val="0"/>
              </a:spcAft>
              <a:defRPr sz="1400" b="1">
                <a:solidFill>
                  <a:srgbClr val="B8EAD9"/>
                </a:solidFill>
                <a:latin typeface="Arial"/>
              </a:defRPr>
            </a:pPr>
            <a:r>
              <a:t>SUPERVISEUR</a:t>
            </a:r>
          </a:p>
        </p:txBody>
      </p:sp>
      <p:sp>
        <p:nvSpPr>
          <p:cNvPr id="13" name="TextBox 12"/>
          <p:cNvSpPr txBox="1"/>
          <p:nvPr/>
        </p:nvSpPr>
        <p:spPr>
          <a:xfrm>
            <a:off x="6502400" y="3314700"/>
            <a:ext cx="4940300" cy="304800"/>
          </a:xfrm>
          <a:prstGeom prst="rect">
            <a:avLst/>
          </a:prstGeom>
          <a:noFill/>
        </p:spPr>
        <p:txBody>
          <a:bodyPr wrap="none" lIns="0" rIns="0" tIns="0" bIns="0">
            <a:spAutoFit/>
          </a:bodyPr>
          <a:lstStyle/>
          <a:p>
            <a:pPr>
              <a:spcBef>
                <a:spcPts val="0"/>
              </a:spcBef>
              <a:spcAft>
                <a:spcPts val="0"/>
              </a:spcAft>
              <a:defRPr sz="1600" b="0">
                <a:solidFill>
                  <a:srgbClr val="FFFFFF"/>
                </a:solidFill>
                <a:latin typeface="Arial"/>
              </a:defRPr>
            </a:pPr>
            <a:r>
              <a:t>Organise les projets et les équipes.</a:t>
            </a:r>
          </a:p>
        </p:txBody>
      </p:sp>
      <p:sp>
        <p:nvSpPr>
          <p:cNvPr id="14" name="Rounded Rectangle 13"/>
          <p:cNvSpPr/>
          <p:nvPr/>
        </p:nvSpPr>
        <p:spPr>
          <a:xfrm>
            <a:off x="533400" y="4178300"/>
            <a:ext cx="5410200" cy="1206500"/>
          </a:xfrm>
          <a:prstGeom prst="roundRect">
            <a:avLst>
              <a:gd name="adj" fmla="val 8421"/>
            </a:avLst>
          </a:prstGeom>
          <a:solidFill>
            <a:srgbClr val="125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3400" y="4381500"/>
            <a:ext cx="38100" cy="800100"/>
          </a:xfrm>
          <a:prstGeom prst="rect">
            <a:avLst/>
          </a:prstGeom>
          <a:solidFill>
            <a:srgbClr val="D6B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400" y="4368800"/>
            <a:ext cx="4965700" cy="266700"/>
          </a:xfrm>
          <a:prstGeom prst="rect">
            <a:avLst/>
          </a:prstGeom>
          <a:noFill/>
        </p:spPr>
        <p:txBody>
          <a:bodyPr wrap="none" lIns="0" rIns="0" tIns="0" bIns="0">
            <a:spAutoFit/>
          </a:bodyPr>
          <a:lstStyle/>
          <a:p>
            <a:pPr>
              <a:spcBef>
                <a:spcPts val="0"/>
              </a:spcBef>
              <a:spcAft>
                <a:spcPts val="0"/>
              </a:spcAft>
              <a:defRPr sz="1400" b="1">
                <a:solidFill>
                  <a:srgbClr val="B8EAD9"/>
                </a:solidFill>
                <a:latin typeface="Arial"/>
              </a:defRPr>
            </a:pPr>
            <a:r>
              <a:t>TECHNICIEN</a:t>
            </a:r>
          </a:p>
        </p:txBody>
      </p:sp>
      <p:sp>
        <p:nvSpPr>
          <p:cNvPr id="17" name="TextBox 16"/>
          <p:cNvSpPr txBox="1"/>
          <p:nvPr/>
        </p:nvSpPr>
        <p:spPr>
          <a:xfrm>
            <a:off x="787400" y="4724400"/>
            <a:ext cx="4940300" cy="304800"/>
          </a:xfrm>
          <a:prstGeom prst="rect">
            <a:avLst/>
          </a:prstGeom>
          <a:noFill/>
        </p:spPr>
        <p:txBody>
          <a:bodyPr wrap="none" lIns="0" rIns="0" tIns="0" bIns="0">
            <a:spAutoFit/>
          </a:bodyPr>
          <a:lstStyle/>
          <a:p>
            <a:pPr>
              <a:spcBef>
                <a:spcPts val="0"/>
              </a:spcBef>
              <a:spcAft>
                <a:spcPts val="0"/>
              </a:spcAft>
              <a:defRPr sz="1600" b="0">
                <a:solidFill>
                  <a:srgbClr val="FFFFFF"/>
                </a:solidFill>
                <a:latin typeface="Arial"/>
              </a:defRPr>
            </a:pPr>
            <a:r>
              <a:t>Renseigne les interventions et suit ses gains.</a:t>
            </a:r>
          </a:p>
        </p:txBody>
      </p:sp>
      <p:sp>
        <p:nvSpPr>
          <p:cNvPr id="18" name="Rounded Rectangle 17"/>
          <p:cNvSpPr/>
          <p:nvPr/>
        </p:nvSpPr>
        <p:spPr>
          <a:xfrm>
            <a:off x="6248400" y="4178300"/>
            <a:ext cx="5410200" cy="1206500"/>
          </a:xfrm>
          <a:prstGeom prst="roundRect">
            <a:avLst>
              <a:gd name="adj" fmla="val 8421"/>
            </a:avLst>
          </a:prstGeom>
          <a:solidFill>
            <a:srgbClr val="125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48400" y="4381500"/>
            <a:ext cx="38100" cy="800100"/>
          </a:xfrm>
          <a:prstGeom prst="rect">
            <a:avLst/>
          </a:prstGeom>
          <a:solidFill>
            <a:srgbClr val="D6B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2400" y="4368800"/>
            <a:ext cx="4965700" cy="266700"/>
          </a:xfrm>
          <a:prstGeom prst="rect">
            <a:avLst/>
          </a:prstGeom>
          <a:noFill/>
        </p:spPr>
        <p:txBody>
          <a:bodyPr wrap="none" lIns="0" rIns="0" tIns="0" bIns="0">
            <a:spAutoFit/>
          </a:bodyPr>
          <a:lstStyle/>
          <a:p>
            <a:pPr>
              <a:spcBef>
                <a:spcPts val="0"/>
              </a:spcBef>
              <a:spcAft>
                <a:spcPts val="0"/>
              </a:spcAft>
              <a:defRPr sz="1400" b="1">
                <a:solidFill>
                  <a:srgbClr val="B8EAD9"/>
                </a:solidFill>
                <a:latin typeface="Arial"/>
              </a:defRPr>
            </a:pPr>
            <a:r>
              <a:t>CLIENT</a:t>
            </a:r>
          </a:p>
        </p:txBody>
      </p:sp>
      <p:sp>
        <p:nvSpPr>
          <p:cNvPr id="21" name="TextBox 20"/>
          <p:cNvSpPr txBox="1"/>
          <p:nvPr/>
        </p:nvSpPr>
        <p:spPr>
          <a:xfrm>
            <a:off x="6502400" y="4724400"/>
            <a:ext cx="4940300" cy="304800"/>
          </a:xfrm>
          <a:prstGeom prst="rect">
            <a:avLst/>
          </a:prstGeom>
          <a:noFill/>
        </p:spPr>
        <p:txBody>
          <a:bodyPr wrap="none" lIns="0" rIns="0" tIns="0" bIns="0">
            <a:spAutoFit/>
          </a:bodyPr>
          <a:lstStyle/>
          <a:p>
            <a:pPr>
              <a:spcBef>
                <a:spcPts val="0"/>
              </a:spcBef>
              <a:spcAft>
                <a:spcPts val="0"/>
              </a:spcAft>
              <a:defRPr sz="1600" b="0">
                <a:solidFill>
                  <a:srgbClr val="FFFFFF"/>
                </a:solidFill>
                <a:latin typeface="Arial"/>
              </a:defRPr>
            </a:pPr>
            <a:r>
              <a:t>Vérifie les heures et décide de leur validation.</a:t>
            </a:r>
          </a:p>
        </p:txBody>
      </p:sp>
      <p:sp>
        <p:nvSpPr>
          <p:cNvPr id="22" name="TextBox 21"/>
          <p:cNvSpPr txBox="1"/>
          <p:nvPr/>
        </p:nvSpPr>
        <p:spPr>
          <a:xfrm>
            <a:off x="558800" y="5905500"/>
            <a:ext cx="11087100" cy="381000"/>
          </a:xfrm>
          <a:prstGeom prst="rect">
            <a:avLst/>
          </a:prstGeom>
          <a:noFill/>
        </p:spPr>
        <p:txBody>
          <a:bodyPr wrap="none" lIns="0" rIns="0" tIns="0" bIns="0">
            <a:spAutoFit/>
          </a:bodyPr>
          <a:lstStyle/>
          <a:p>
            <a:pPr>
              <a:spcBef>
                <a:spcPts val="0"/>
              </a:spcBef>
              <a:spcAft>
                <a:spcPts val="0"/>
              </a:spcAft>
              <a:defRPr sz="2000" b="1">
                <a:solidFill>
                  <a:srgbClr val="FFFFFF"/>
                </a:solidFill>
                <a:latin typeface="Arial"/>
              </a:defRPr>
            </a:pPr>
            <a:r>
              <a:t>COPETROLITE · Une responsabilité claire à chaque étape.</a:t>
            </a:r>
          </a:p>
        </p:txBody>
      </p:sp>
      <p:sp>
        <p:nvSpPr>
          <p:cNvPr id="23" name="TextBox 22"/>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B2C9CA"/>
                </a:solidFill>
                <a:latin typeface="Arial"/>
              </a:defRPr>
            </a:pPr>
            <a:r>
              <a:t>COPETROLITE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800100"/>
          </a:xfrm>
          <a:prstGeom prst="rect">
            <a:avLst/>
          </a:prstGeom>
          <a:solidFill>
            <a:srgbClr val="083F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1-1-1.png"/>
          <p:cNvPicPr>
            <a:picLocks noChangeAspect="1"/>
          </p:cNvPicPr>
          <p:nvPr/>
        </p:nvPicPr>
        <p:blipFill>
          <a:blip r:embed="rId3"/>
          <a:stretch>
            <a:fillRect/>
          </a:stretch>
        </p:blipFill>
        <p:spPr>
          <a:xfrm>
            <a:off x="393700" y="0"/>
            <a:ext cx="1079500" cy="762606"/>
          </a:xfrm>
          <a:prstGeom prst="rect">
            <a:avLst/>
          </a:prstGeom>
        </p:spPr>
      </p:pic>
      <p:sp>
        <p:nvSpPr>
          <p:cNvPr id="5" name="TextBox 4"/>
          <p:cNvSpPr txBox="1"/>
          <p:nvPr/>
        </p:nvSpPr>
        <p:spPr>
          <a:xfrm>
            <a:off x="1778000" y="317500"/>
            <a:ext cx="9055100" cy="209550"/>
          </a:xfrm>
          <a:prstGeom prst="rect">
            <a:avLst/>
          </a:prstGeom>
          <a:noFill/>
        </p:spPr>
        <p:txBody>
          <a:bodyPr wrap="none" lIns="0" rIns="0" tIns="0" bIns="0">
            <a:spAutoFit/>
          </a:bodyPr>
          <a:lstStyle/>
          <a:p>
            <a:pPr>
              <a:spcBef>
                <a:spcPts val="0"/>
              </a:spcBef>
              <a:spcAft>
                <a:spcPts val="0"/>
              </a:spcAft>
              <a:defRPr sz="1100" b="1">
                <a:solidFill>
                  <a:srgbClr val="B8EAD9"/>
                </a:solidFill>
                <a:latin typeface="Arial"/>
              </a:defRPr>
            </a:pPr>
            <a:r>
              <a:t>ANNEXE / RÉFÉRENCES</a:t>
            </a:r>
          </a:p>
        </p:txBody>
      </p:sp>
      <p:sp>
        <p:nvSpPr>
          <p:cNvPr id="6" name="TextBox 5"/>
          <p:cNvSpPr txBox="1"/>
          <p:nvPr/>
        </p:nvSpPr>
        <p:spPr>
          <a:xfrm>
            <a:off x="533400" y="1066800"/>
            <a:ext cx="11214100" cy="571500"/>
          </a:xfrm>
          <a:prstGeom prst="rect">
            <a:avLst/>
          </a:prstGeom>
          <a:noFill/>
        </p:spPr>
        <p:txBody>
          <a:bodyPr wrap="none" lIns="0" rIns="0" tIns="0" bIns="0">
            <a:spAutoFit/>
          </a:bodyPr>
          <a:lstStyle/>
          <a:p>
            <a:pPr>
              <a:spcBef>
                <a:spcPts val="0"/>
              </a:spcBef>
              <a:spcAft>
                <a:spcPts val="0"/>
              </a:spcAft>
              <a:defRPr sz="3000" b="1">
                <a:solidFill>
                  <a:srgbClr val="083F48"/>
                </a:solidFill>
                <a:latin typeface="Arial"/>
              </a:defRPr>
            </a:pPr>
            <a:r>
              <a:t>Sources et limites de cette présentation</a:t>
            </a:r>
          </a:p>
        </p:txBody>
      </p:sp>
      <p:sp>
        <p:nvSpPr>
          <p:cNvPr id="7" name="TextBox 6"/>
          <p:cNvSpPr txBox="1"/>
          <p:nvPr/>
        </p:nvSpPr>
        <p:spPr>
          <a:xfrm>
            <a:off x="558800" y="1676400"/>
            <a:ext cx="11163300" cy="257175"/>
          </a:xfrm>
          <a:prstGeom prst="rect">
            <a:avLst/>
          </a:prstGeom>
          <a:noFill/>
        </p:spPr>
        <p:txBody>
          <a:bodyPr wrap="none" lIns="0" rIns="0" tIns="0" bIns="0">
            <a:spAutoFit/>
          </a:bodyPr>
          <a:lstStyle/>
          <a:p>
            <a:pPr>
              <a:spcBef>
                <a:spcPts val="0"/>
              </a:spcBef>
              <a:spcAft>
                <a:spcPts val="0"/>
              </a:spcAft>
              <a:defRPr sz="1350" b="0">
                <a:solidFill>
                  <a:srgbClr val="557077"/>
                </a:solidFill>
                <a:latin typeface="Arial"/>
              </a:defRPr>
            </a:pPr>
            <a:r>
              <a:t>Présentation établie à partir du projet local ; aucune donnée métier réelle n’est reproduite.</a:t>
            </a:r>
          </a:p>
        </p:txBody>
      </p:sp>
      <p:sp>
        <p:nvSpPr>
          <p:cNvPr id="8" name="Rounded Rectangle 7"/>
          <p:cNvSpPr/>
          <p:nvPr/>
        </p:nvSpPr>
        <p:spPr>
          <a:xfrm>
            <a:off x="533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RÔLES ET CIRCUIT MÉTIER</a:t>
            </a:r>
          </a:p>
        </p:txBody>
      </p:sp>
      <p:sp>
        <p:nvSpPr>
          <p:cNvPr id="11" name="TextBox 10"/>
          <p:cNvSpPr txBox="1"/>
          <p:nvPr/>
        </p:nvSpPr>
        <p:spPr>
          <a:xfrm>
            <a:off x="787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eliteapp/models.py, access.py, views.py, serializers.py</a:t>
            </a:r>
          </a:p>
        </p:txBody>
      </p:sp>
      <p:sp>
        <p:nvSpPr>
          <p:cNvPr id="12" name="TextBox 11"/>
          <p:cNvSpPr txBox="1"/>
          <p:nvPr/>
        </p:nvSpPr>
        <p:spPr>
          <a:xfrm>
            <a:off x="787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et services.py.</a:t>
            </a:r>
          </a:p>
        </p:txBody>
      </p:sp>
      <p:sp>
        <p:nvSpPr>
          <p:cNvPr id="13" name="Rounded Rectangle 12"/>
          <p:cNvSpPr/>
          <p:nvPr/>
        </p:nvSpPr>
        <p:spPr>
          <a:xfrm>
            <a:off x="6248400" y="23241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8400" y="25273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5146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ÉCRANS ET DOCUMENTS</a:t>
            </a:r>
          </a:p>
        </p:txBody>
      </p:sp>
      <p:sp>
        <p:nvSpPr>
          <p:cNvPr id="16" name="TextBox 15"/>
          <p:cNvSpPr txBox="1"/>
          <p:nvPr/>
        </p:nvSpPr>
        <p:spPr>
          <a:xfrm>
            <a:off x="6502400" y="28702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App.jsx, forms.jsx, ProjectAccess.jsx, CVImport.jsx,</a:t>
            </a:r>
          </a:p>
        </p:txBody>
      </p:sp>
      <p:sp>
        <p:nvSpPr>
          <p:cNvPr id="17" name="TextBox 16"/>
          <p:cNvSpPr txBox="1"/>
          <p:nvPr/>
        </p:nvSpPr>
        <p:spPr>
          <a:xfrm>
            <a:off x="6502400" y="31221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ExperienceEditor.jsx et TechnicianPhoto.jsx.</a:t>
            </a:r>
          </a:p>
        </p:txBody>
      </p:sp>
      <p:sp>
        <p:nvSpPr>
          <p:cNvPr id="18" name="Rounded Rectangle 17"/>
          <p:cNvSpPr/>
          <p:nvPr/>
        </p:nvSpPr>
        <p:spPr>
          <a:xfrm>
            <a:off x="533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EXTRACTION ET VÉRIFICATION</a:t>
            </a:r>
          </a:p>
        </p:txBody>
      </p:sp>
      <p:sp>
        <p:nvSpPr>
          <p:cNvPr id="21" name="TextBox 20"/>
          <p:cNvSpPr txBox="1"/>
          <p:nvPr/>
        </p:nvSpPr>
        <p:spPr>
          <a:xfrm>
            <a:off x="787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eliteapp/cv.py, scripts/ocr-image.ps1, eliteapp/tests.py</a:t>
            </a:r>
          </a:p>
        </p:txBody>
      </p:sp>
      <p:sp>
        <p:nvSpPr>
          <p:cNvPr id="22" name="TextBox 21"/>
          <p:cNvSpPr txBox="1"/>
          <p:nvPr/>
        </p:nvSpPr>
        <p:spPr>
          <a:xfrm>
            <a:off x="787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et eliteapp/test_cv.py.</a:t>
            </a:r>
          </a:p>
        </p:txBody>
      </p:sp>
      <p:sp>
        <p:nvSpPr>
          <p:cNvPr id="23" name="Rounded Rectangle 22"/>
          <p:cNvSpPr/>
          <p:nvPr/>
        </p:nvSpPr>
        <p:spPr>
          <a:xfrm>
            <a:off x="6248400" y="4114800"/>
            <a:ext cx="5410200" cy="1625600"/>
          </a:xfrm>
          <a:prstGeom prst="roundRect">
            <a:avLst>
              <a:gd name="adj" fmla="val 62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400" y="4318000"/>
            <a:ext cx="38100" cy="1219200"/>
          </a:xfrm>
          <a:prstGeom prst="rect">
            <a:avLst/>
          </a:prstGeom>
          <a:solidFill>
            <a:srgbClr val="087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2400" y="4305300"/>
            <a:ext cx="4965700" cy="266700"/>
          </a:xfrm>
          <a:prstGeom prst="rect">
            <a:avLst/>
          </a:prstGeom>
          <a:noFill/>
        </p:spPr>
        <p:txBody>
          <a:bodyPr wrap="none" lIns="0" rIns="0" tIns="0" bIns="0">
            <a:spAutoFit/>
          </a:bodyPr>
          <a:lstStyle/>
          <a:p>
            <a:pPr>
              <a:spcBef>
                <a:spcPts val="0"/>
              </a:spcBef>
              <a:spcAft>
                <a:spcPts val="0"/>
              </a:spcAft>
              <a:defRPr sz="1400" b="1">
                <a:solidFill>
                  <a:srgbClr val="087F73"/>
                </a:solidFill>
                <a:latin typeface="Arial"/>
              </a:defRPr>
            </a:pPr>
            <a:r>
              <a:t>CONFIGURATION ET IDENTITÉ</a:t>
            </a:r>
          </a:p>
        </p:txBody>
      </p:sp>
      <p:sp>
        <p:nvSpPr>
          <p:cNvPr id="26" name="TextBox 25"/>
          <p:cNvSpPr txBox="1"/>
          <p:nvPr/>
        </p:nvSpPr>
        <p:spPr>
          <a:xfrm>
            <a:off x="6502400" y="4660900"/>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coproject/settings.py, test_settings.py, README.md ;</a:t>
            </a:r>
          </a:p>
        </p:txBody>
      </p:sp>
      <p:sp>
        <p:nvSpPr>
          <p:cNvPr id="27" name="TextBox 26"/>
          <p:cNvSpPr txBox="1"/>
          <p:nvPr/>
        </p:nvSpPr>
        <p:spPr>
          <a:xfrm>
            <a:off x="6502400" y="4912868"/>
            <a:ext cx="4940300" cy="304800"/>
          </a:xfrm>
          <a:prstGeom prst="rect">
            <a:avLst/>
          </a:prstGeom>
          <a:noFill/>
        </p:spPr>
        <p:txBody>
          <a:bodyPr wrap="none" lIns="0" rIns="0" tIns="0" bIns="0">
            <a:spAutoFit/>
          </a:bodyPr>
          <a:lstStyle/>
          <a:p>
            <a:pPr>
              <a:spcBef>
                <a:spcPts val="0"/>
              </a:spcBef>
              <a:spcAft>
                <a:spcPts val="0"/>
              </a:spcAft>
              <a:defRPr sz="1600" b="0">
                <a:solidFill>
                  <a:srgbClr val="173E46"/>
                </a:solidFill>
                <a:latin typeface="Arial"/>
              </a:defRPr>
            </a:pPr>
            <a:r>
              <a:t>logo existant frontend/src/assets/CO-1-1-1.png.</a:t>
            </a:r>
          </a:p>
        </p:txBody>
      </p:sp>
      <p:sp>
        <p:nvSpPr>
          <p:cNvPr id="28" name="Rounded Rectangle 27"/>
          <p:cNvSpPr/>
          <p:nvPr/>
        </p:nvSpPr>
        <p:spPr>
          <a:xfrm>
            <a:off x="533400" y="5969000"/>
            <a:ext cx="11125200" cy="406400"/>
          </a:xfrm>
          <a:prstGeom prst="roundRect">
            <a:avLst>
              <a:gd name="adj" fmla="val 15625"/>
            </a:avLst>
          </a:prstGeom>
          <a:solidFill>
            <a:srgbClr val="E0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8500" y="6070600"/>
            <a:ext cx="10833100" cy="228600"/>
          </a:xfrm>
          <a:prstGeom prst="rect">
            <a:avLst/>
          </a:prstGeom>
          <a:noFill/>
        </p:spPr>
        <p:txBody>
          <a:bodyPr wrap="none" lIns="0" rIns="0" tIns="0" bIns="0">
            <a:spAutoFit/>
          </a:bodyPr>
          <a:lstStyle/>
          <a:p>
            <a:pPr>
              <a:spcBef>
                <a:spcPts val="0"/>
              </a:spcBef>
              <a:spcAft>
                <a:spcPts val="0"/>
              </a:spcAft>
              <a:defRPr sz="1200" b="1">
                <a:solidFill>
                  <a:srgbClr val="083F48"/>
                </a:solidFill>
                <a:latin typeface="Arial"/>
              </a:defRPr>
            </a:pPr>
            <a:r>
              <a:t>Les comportements du code actuel priment sur les descriptions anciennes du README.</a:t>
            </a:r>
          </a:p>
        </p:txBody>
      </p:sp>
      <p:sp>
        <p:nvSpPr>
          <p:cNvPr id="30" name="TextBox 29"/>
          <p:cNvSpPr txBox="1"/>
          <p:nvPr/>
        </p:nvSpPr>
        <p:spPr>
          <a:xfrm>
            <a:off x="533400" y="6502400"/>
            <a:ext cx="9944100" cy="152400"/>
          </a:xfrm>
          <a:prstGeom prst="rect">
            <a:avLst/>
          </a:prstGeom>
          <a:noFill/>
        </p:spPr>
        <p:txBody>
          <a:bodyPr wrap="none" lIns="0" rIns="0" tIns="0" bIns="0">
            <a:spAutoFit/>
          </a:bodyPr>
          <a:lstStyle/>
          <a:p>
            <a:pPr>
              <a:spcBef>
                <a:spcPts val="0"/>
              </a:spcBef>
              <a:spcAft>
                <a:spcPts val="0"/>
              </a:spcAft>
              <a:defRPr sz="800" b="0">
                <a:solidFill>
                  <a:srgbClr val="557077"/>
                </a:solidFill>
                <a:latin typeface="Arial"/>
              </a:defRPr>
            </a:pPr>
            <a:r>
              <a:t>Sources locales uniquement</a:t>
            </a:r>
          </a:p>
        </p:txBody>
      </p:sp>
      <p:sp>
        <p:nvSpPr>
          <p:cNvPr id="31" name="TextBox 30"/>
          <p:cNvSpPr txBox="1"/>
          <p:nvPr/>
        </p:nvSpPr>
        <p:spPr>
          <a:xfrm>
            <a:off x="10452100" y="6502400"/>
            <a:ext cx="1435100" cy="152400"/>
          </a:xfrm>
          <a:prstGeom prst="rect">
            <a:avLst/>
          </a:prstGeom>
          <a:noFill/>
        </p:spPr>
        <p:txBody>
          <a:bodyPr wrap="none" lIns="0" rIns="0" tIns="0" bIns="0">
            <a:spAutoFit/>
          </a:bodyPr>
          <a:lstStyle/>
          <a:p>
            <a:pPr>
              <a:spcBef>
                <a:spcPts val="0"/>
              </a:spcBef>
              <a:spcAft>
                <a:spcPts val="0"/>
              </a:spcAft>
              <a:defRPr sz="800" b="1">
                <a:solidFill>
                  <a:srgbClr val="557077"/>
                </a:solidFill>
                <a:latin typeface="Arial"/>
              </a:defRPr>
            </a:pPr>
            <a:r>
              <a:t>COPETROLITE / 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Copetrolite — Présentation du projet</dc:title>
  <dc:subject>Accès, gestion des interventions, extraction CV et photo</dc:subject>
  <dc:creator>Copetrolite</dc:creator>
  <cp:keywords>Copetrolite, interventions, techniciens, CV, expérience, photo</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